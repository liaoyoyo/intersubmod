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建立簡報主題、時間範圍、輸出定位與高層結論。</a:t>
            </a:r>
          </a:p>
          <a:p>
            <a:r>
              <a:t>口頭講解重點：</a:t>
            </a:r>
          </a:p>
          <a:p>
            <a:r>
              <a:t>1. 這份 deck 的主題是用 AI / Agent 自動化推進 InterSubMod 的 F1 驗證。</a:t>
            </a:r>
          </a:p>
          <a:p>
            <a:r>
              <a:t>2. 這是一份 16 頁技術深度版 draft，speaker notes 為正式產物。</a:t>
            </a:r>
          </a:p>
          <a:p>
            <a:r>
              <a:t>3. 今天不是要推一條新規則，而是要把主線、限制與下一步整理清楚。</a:t>
            </a:r>
          </a:p>
          <a:p>
            <a:r>
              <a:t>完整中文推論：</a:t>
            </a:r>
          </a:p>
          <a:p>
            <a:r>
              <a:t>三層結論已經收斂，因此本 deck 之後的數據只是逐頁驗證 caller-first、methylation-support 與 haplotype 共分析的正確位置。</a:t>
            </a:r>
          </a:p>
          <a:p>
            <a:r>
              <a:t>數據或圖表證據：</a:t>
            </a:r>
          </a:p>
          <a:p>
            <a:r>
              <a:t>- 主整合報告封面與第 11-12 節頁序藍圖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/big8_disk/liaoyoyo2001/InterSubMod/docs/references/manual/assets/20260312_ai_f1_research_pptx_config_01.json</a:t>
            </a:r>
          </a:p>
          <a:p>
            <a:r>
              <a:t>- /big8_disk/liaoyoyo2001/InterSubMod/docs/references/manual/assets/20260311_liao_research_ppt_profile_01.json</a:t>
            </a:r>
          </a:p>
          <a:p>
            <a:r>
              <a:t>補充背景：</a:t>
            </a:r>
          </a:p>
          <a:p>
            <a:r>
              <a:t>本 deck 採個人固定 PPT 規範：中文主體、英文輔助、一頁一重點、完整 notes。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先交代簡報結構，讓聽眾知道會依什麼順序理解主線。</a:t>
            </a:r>
          </a:p>
          <a:p>
            <a:r>
              <a:t>口頭講解重點：</a:t>
            </a:r>
          </a:p>
          <a:p>
            <a:r>
              <a:t>1. 前段先講研究問題與主結論。</a:t>
            </a:r>
          </a:p>
          <a:p>
            <a:r>
              <a:t>2. 中段講 paired、TO、Pool B 與特徵分工。</a:t>
            </a:r>
          </a:p>
          <a:p>
            <a:r>
              <a:t>3. 後段講 comparability、mixed 與下一步。</a:t>
            </a:r>
          </a:p>
          <a:p>
            <a:r>
              <a:t>完整中文推論：</a:t>
            </a:r>
          </a:p>
          <a:p>
            <a:r>
              <a:t>這份 deck 並不是把所有實驗流水帳照搬，而是依『研究決策順序』安排章節，避免不同母體、不同問題定義混寫。</a:t>
            </a:r>
          </a:p>
          <a:p>
            <a:r>
              <a:t>數據或圖表證據：</a:t>
            </a:r>
          </a:p>
          <a:p>
            <a:r>
              <a:t>- Agenda 內容來自 20260312 主整合報告的 16 頁規劃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報告總覽刻意把 Pool B 和 mixed 留在後段，因為兩者都不應壓過純樣本主線。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用一頁先講完整份 deck 的破題結論。</a:t>
            </a:r>
          </a:p>
          <a:p>
            <a:r>
              <a:t>口頭講解重點：</a:t>
            </a:r>
          </a:p>
          <a:p>
            <a:r>
              <a:t>1. caller-first 仍是最穩定的主規則。</a:t>
            </a:r>
          </a:p>
          <a:p>
            <a:r>
              <a:t>2. 甲基特徵有價值，但主要位於 support、annotation 與 triage。</a:t>
            </a:r>
          </a:p>
          <a:p>
            <a:r>
              <a:t>3. 5kHz 有效不代表 DORADO 同樣有效。</a:t>
            </a:r>
          </a:p>
          <a:p>
            <a:r>
              <a:t>完整中文推論：</a:t>
            </a:r>
          </a:p>
          <a:p>
            <a:r>
              <a:t>這個三層架構是目前最合理的工作分工，後面各頁都只是把這個高層結論拆成 paired、TO、Pool B 與 mixed 四個面向去驗證。</a:t>
            </a:r>
          </a:p>
          <a:p>
            <a:r>
              <a:t>數據或圖表證據：</a:t>
            </a:r>
          </a:p>
          <a:p>
            <a:r>
              <a:t>- framework.conclusions</a:t>
            </a:r>
          </a:p>
          <a:p>
            <a:r>
              <a:t>- framework.layers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這一頁要直接講結論，不要等到中段才讓聽眾知道口徑。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說明為什麼最近研究方式從手動試規則轉成 AI / Agent 自動化。</a:t>
            </a:r>
          </a:p>
          <a:p>
            <a:r>
              <a:t>口頭講解重點：</a:t>
            </a:r>
          </a:p>
          <a:p>
            <a:r>
              <a:t>1. 自動讀 docs / knowledge。</a:t>
            </a:r>
          </a:p>
          <a:p>
            <a:r>
              <a:t>2. 自動跑 feature sweep 與 candidate-specific rescue。</a:t>
            </a:r>
          </a:p>
          <a:p>
            <a:r>
              <a:t>3. 自動生成報告並回寫索引。</a:t>
            </a:r>
          </a:p>
          <a:p>
            <a:r>
              <a:t>完整中文推論：</a:t>
            </a:r>
          </a:p>
          <a:p>
            <a:r>
              <a:t>研究價值不只在節省時間，而是在於讓每輪實驗都留有可追溯的證據鏈，避免 AI 每次重開就重新踩過失敗方向。</a:t>
            </a:r>
          </a:p>
          <a:p>
            <a:r>
              <a:t>數據或圖表證據：</a:t>
            </a:r>
          </a:p>
          <a:p>
            <a:r>
              <a:t>- ai_automation.before_after</a:t>
            </a:r>
          </a:p>
          <a:p>
            <a:r>
              <a:t>- ai_automation.value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這個流程依賴 CURRENT_FOCUS、INDEX 與 docs/README 的三層入口。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把本輪 AI 被限制只做的兩類問題說清楚。</a:t>
            </a:r>
          </a:p>
          <a:p>
            <a:r>
              <a:t>口頭講解重點：</a:t>
            </a:r>
          </a:p>
          <a:p>
            <a:r>
              <a:t>1. 問題 A 是後段刪 FP。</a:t>
            </a:r>
          </a:p>
          <a:p>
            <a:r>
              <a:t>2. 問題 B 是前段救 TP。</a:t>
            </a:r>
          </a:p>
          <a:p>
            <a:r>
              <a:t>3. 兩者母體不同，不能用同一套規則混寫。</a:t>
            </a:r>
          </a:p>
          <a:p>
            <a:r>
              <a:t>完整中文推論：</a:t>
            </a:r>
          </a:p>
          <a:p>
            <a:r>
              <a:t>像 AlleleDelta 在 kept-set / artifact triage 與 Pool B FN 這兩種母體中方向可以相反，因此若不先分母體，所有結論都會失真。</a:t>
            </a:r>
          </a:p>
          <a:p>
            <a:r>
              <a:t>數據或圖表證據：</a:t>
            </a:r>
          </a:p>
          <a:p>
            <a:r>
              <a:t>- two_problems.problem_a</a:t>
            </a:r>
          </a:p>
          <a:p>
            <a:r>
              <a:t>- two_problems.problem_b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/big8_disk/liaoyoyo2001/InterSubMod/docs/reports/validated/2026/03/20260312_PoolB_FN_integration_closeout_01.md</a:t>
            </a:r>
          </a:p>
          <a:p>
            <a:r>
              <a:t>補充背景：</a:t>
            </a:r>
          </a:p>
          <a:p>
            <a:r>
              <a:t>這頁是整份 deck 的方法學防呆頁。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把從 docs 到報告的整條自動化研究鏈講清楚。</a:t>
            </a:r>
          </a:p>
          <a:p>
            <a:r>
              <a:t>口頭講解重點：</a:t>
            </a:r>
          </a:p>
          <a:p>
            <a:r>
              <a:t>1. 前段先對齊文件與知識庫。</a:t>
            </a:r>
          </a:p>
          <a:p>
            <a:r>
              <a:t>2. 中段串 caller、LongPhase、tagged BAM 與 InterSubMod。</a:t>
            </a:r>
          </a:p>
          <a:p>
            <a:r>
              <a:t>3. 後段做 feature sweep、候選 rescue、報告與索引回寫。</a:t>
            </a:r>
          </a:p>
          <a:p>
            <a:r>
              <a:t>完整中文推論：</a:t>
            </a:r>
          </a:p>
          <a:p>
            <a:r>
              <a:t>tagged BAM 是 InterSubMod 真正能做 HP / label-first 驗證的必要條件，因此 paired 與 TO 的 LongPhase workflow 都不是可省略細節。</a:t>
            </a:r>
          </a:p>
          <a:p>
            <a:r>
              <a:t>數據或圖表證據：</a:t>
            </a:r>
          </a:p>
          <a:p>
            <a:r>
              <a:t>- workflow_steps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補充背景：</a:t>
            </a:r>
          </a:p>
          <a:p>
            <a:r>
              <a:t>空間策略之所以重要，就是因為 full tagged BAM 體積大，會決定研究順序。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解釋為什麼先做 HCC1395 5kHz，再用 HCC1395 DORADO 做交叉驗證。</a:t>
            </a:r>
          </a:p>
          <a:p>
            <a:r>
              <a:t>口頭講解重點：</a:t>
            </a:r>
          </a:p>
          <a:p>
            <a:r>
              <a:t>1. 5kHz 比較 noisy，適合做規則壓力測試。</a:t>
            </a:r>
          </a:p>
          <a:p>
            <a:r>
              <a:t>2. DORADO 比較乾淨，適合測規則是否只是平台特異性。</a:t>
            </a:r>
          </a:p>
          <a:p>
            <a:r>
              <a:t>3. 其他樣本先暫列後續，不搶主線。</a:t>
            </a:r>
          </a:p>
          <a:p>
            <a:r>
              <a:t>完整中文推論：</a:t>
            </a:r>
          </a:p>
          <a:p>
            <a:r>
              <a:t>這個樣本策略可以同時提供『最容易看見增益的場景』與『最容易看見規則不可攜的場景』，所以是現在最合理的 paired / TO 雙軸設計。</a:t>
            </a:r>
          </a:p>
          <a:p>
            <a:r>
              <a:t>數據或圖表證據：</a:t>
            </a:r>
          </a:p>
          <a:p>
            <a:r>
              <a:t>- sample_strategy.primary</a:t>
            </a:r>
          </a:p>
          <a:p>
            <a:r>
              <a:t>- sample_strategy.secondary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big8_disk 目前只保留最有研究價值的主線素材。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呈現 paired 場景的正式 benchmark 結果與正確口徑。</a:t>
            </a:r>
          </a:p>
          <a:p>
            <a:r>
              <a:t>口頭講解重點：</a:t>
            </a:r>
          </a:p>
          <a:p>
            <a:r>
              <a:t>1. 5kHz paired 有小幅正增益，但主要來自少掉 FP。</a:t>
            </a:r>
          </a:p>
          <a:p>
            <a:r>
              <a:t>2. DORADO paired 幾乎持平略負。</a:t>
            </a:r>
          </a:p>
          <a:p>
            <a:r>
              <a:t>3. paired 目前仍是 caller 與 LongPhase 做掉大部分改善。</a:t>
            </a:r>
          </a:p>
          <a:p>
            <a:r>
              <a:t>完整中文推論：</a:t>
            </a:r>
          </a:p>
          <a:p>
            <a:r>
              <a:t>paired 的正確說法不是『甲基已經能主導救援』，而是『在最 noisy 的主樣本上，InterSubMod 仍能做少量 precision 精修』。</a:t>
            </a:r>
          </a:p>
          <a:p>
            <a:r>
              <a:t>數據或圖表證據：</a:t>
            </a:r>
          </a:p>
          <a:p>
            <a:r>
              <a:t>- paired_results.table</a:t>
            </a:r>
          </a:p>
          <a:p>
            <a:r>
              <a:t>- paired_results.chart_series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補充背景：</a:t>
            </a:r>
          </a:p>
          <a:p>
            <a:r>
              <a:t>paired 與 TO 的結論必須分開講，因為 LongPhase 在 TO pilot 上沒有改變 baseline PASS call set。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呈現 tumor-only candidate-specific rescue 的主結果。</a:t>
            </a:r>
          </a:p>
          <a:p>
            <a:r>
              <a:t>口頭講解重點：</a:t>
            </a:r>
          </a:p>
          <a:p>
            <a:r>
              <a:t>1. TO 下甲基特徵不是全負效果。</a:t>
            </a:r>
          </a:p>
          <a:p>
            <a:r>
              <a:t>2. 但固定同一 caller gate 後，甲基 support 仍未超過最佳 caller-only。</a:t>
            </a:r>
          </a:p>
          <a:p>
            <a:r>
              <a:t>3. 5kHz 與 DORADO 支持同一個高層結論，但 Pairwise 方向不同。</a:t>
            </a:r>
          </a:p>
          <a:p>
            <a:r>
              <a:t>完整中文推論：</a:t>
            </a:r>
          </a:p>
          <a:p>
            <a:r>
              <a:t>這頁要建立的是『caller-first + methylation-support』的分工，而不是把 support 誤說成已經取代 caller gate。</a:t>
            </a:r>
          </a:p>
          <a:p>
            <a:r>
              <a:t>數據或圖表證據：</a:t>
            </a:r>
          </a:p>
          <a:p>
            <a:r>
              <a:t>- to_results.5khz.rules</a:t>
            </a:r>
          </a:p>
          <a:p>
            <a:r>
              <a:t>- to_results.dorado.rules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補充背景：</a:t>
            </a:r>
          </a:p>
          <a:p>
            <a:r>
              <a:t>DORADO TO 目前的 read-level 素材來自 candidate-window subset haplotag。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正式關閉 Pool B FN 支線，並把它接回主線敘事。</a:t>
            </a:r>
          </a:p>
          <a:p>
            <a:r>
              <a:t>口頭講解重點：</a:t>
            </a:r>
          </a:p>
          <a:p>
            <a:r>
              <a:t>1. Pool B FN 再次證明 caller-side rescue 空間存在。</a:t>
            </a:r>
          </a:p>
          <a:p>
            <a:r>
              <a:t>2. 最佳結果仍是 caller-only。</a:t>
            </a:r>
          </a:p>
          <a:p>
            <a:r>
              <a:t>3. 甲基只提供弱補強，沒有超過 caller-only 最佳。</a:t>
            </a:r>
          </a:p>
          <a:p>
            <a:r>
              <a:t>完整中文推論：</a:t>
            </a:r>
          </a:p>
          <a:p>
            <a:r>
              <a:t>Pool B 是前段 TP rescue 的問題，因此不能和 kept-set / artifact triage 的規則混成同一條全域規則，特別是 AlleleDelta 的方向會相反。</a:t>
            </a:r>
          </a:p>
          <a:p>
            <a:r>
              <a:t>數據或圖表證據：</a:t>
            </a:r>
          </a:p>
          <a:p>
            <a:r>
              <a:t>- pool_b.fn_count</a:t>
            </a:r>
          </a:p>
          <a:p>
            <a:r>
              <a:t>- pool_b.results</a:t>
            </a:r>
          </a:p>
          <a:p>
            <a:r>
              <a:t>- pool_b.conclusions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/big8_disk/liaoyoyo2001/InterSubMod/docs/reports/validated/2026/03/20260312_PoolB_FN_integration_closeout_01.md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補充背景：</a:t>
            </a:r>
          </a:p>
          <a:p>
            <a:r>
              <a:t>這頁的任務是切清楚『前段救 TP』與『後段刪 FP』。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整理現在最重要的特徵與它們正確的角色。</a:t>
            </a:r>
          </a:p>
          <a:p>
            <a:r>
              <a:t>口頭講解重點：</a:t>
            </a:r>
          </a:p>
          <a:p>
            <a:r>
              <a:t>1. GQ 已是主規則。</a:t>
            </a:r>
          </a:p>
          <a:p>
            <a:r>
              <a:t>2. Quality_Score 可升 annotation。</a:t>
            </a:r>
          </a:p>
          <a:p>
            <a:r>
              <a:t>3. PairwiseMedianDist 只能升 dataset-aware annotation。</a:t>
            </a:r>
          </a:p>
          <a:p>
            <a:r>
              <a:t>4. artifact triage 不能回頭拿來當 TP rescue 主規則。</a:t>
            </a:r>
          </a:p>
          <a:p>
            <a:r>
              <a:t>完整中文推論：</a:t>
            </a:r>
          </a:p>
          <a:p>
            <a:r>
              <a:t>真正要做的不是再堆更多條件，而是把每個特徵放在正確層級，避免把穩定訊號與不穩定訊號混成同一個決策引擎。</a:t>
            </a:r>
          </a:p>
          <a:p>
            <a:r>
              <a:t>數據或圖表證據：</a:t>
            </a:r>
          </a:p>
          <a:p>
            <a:r>
              <a:t>- feature_table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補充背景：</a:t>
            </a:r>
          </a:p>
          <a:p>
            <a:r>
              <a:t>這張表同時也是後續 annotation export 的需求清單。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用三層架構把 annotation 與主規則的分工制度化。</a:t>
            </a:r>
          </a:p>
          <a:p>
            <a:r>
              <a:t>口頭講解重點：</a:t>
            </a:r>
          </a:p>
          <a:p>
            <a:r>
              <a:t>1. 第一層是 caller-first。</a:t>
            </a:r>
          </a:p>
          <a:p>
            <a:r>
              <a:t>2. 第二層是 methylation-support。</a:t>
            </a:r>
          </a:p>
          <a:p>
            <a:r>
              <a:t>3. 第三層是 annotation / QC / diagnostics。</a:t>
            </a:r>
          </a:p>
          <a:p>
            <a:r>
              <a:t>完整中文推論：</a:t>
            </a:r>
          </a:p>
          <a:p>
            <a:r>
              <a:t>這個分工的實際用途，是讓我們可以先把 Quality、Pairwise、hp_assign 等特徵接到輸出層，而不是太早把它們硬接進 hard keep / hard filter。</a:t>
            </a:r>
          </a:p>
          <a:p>
            <a:r>
              <a:t>數據或圖表證據：</a:t>
            </a:r>
          </a:p>
          <a:p>
            <a:r>
              <a:t>- framework.layers</a:t>
            </a:r>
          </a:p>
          <a:p>
            <a:r>
              <a:t>- annotation decision cards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這頁是之後 round summary、dashboard 與 diagnostics 最重要的設計依據。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明確交代四象限比較的限制與 dataset-dependence。</a:t>
            </a:r>
          </a:p>
          <a:p>
            <a:r>
              <a:t>口頭講解重點：</a:t>
            </a:r>
          </a:p>
          <a:p>
            <a:r>
              <a:t>1. 5kHz 與 DORADO 的方向差異合理，但不能直接當因果。</a:t>
            </a:r>
          </a:p>
          <a:p>
            <a:r>
              <a:t>2. candidate-specific coverage 與 snapshot scope 不同。</a:t>
            </a:r>
          </a:p>
          <a:p>
            <a:r>
              <a:t>3. paired 的 negative result 仍要保留 coverage ceiling 的 caveat。</a:t>
            </a:r>
          </a:p>
          <a:p>
            <a:r>
              <a:t>完整中文推論：</a:t>
            </a:r>
          </a:p>
          <a:p>
            <a:r>
              <a:t>這頁要阻止過度推論，尤其是把 PairwiseMedianDist 當成跨樣本穩定生物學訊號，或把 paired 的目前無效說成 paired 永遠無效。</a:t>
            </a:r>
          </a:p>
          <a:p>
            <a:r>
              <a:t>數據或圖表證據：</a:t>
            </a:r>
          </a:p>
          <a:p>
            <a:r>
              <a:t>- divergence.bullets</a:t>
            </a:r>
          </a:p>
          <a:p>
            <a:r>
              <a:t>- divergence.caution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/big8_disk/liaoyoyo2001/InterSubMod/docs/reports/validated/2026/03/20260311_HCC1395_四象限甲基rescue整合報告_01.md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補充背景：</a:t>
            </a:r>
          </a:p>
          <a:p>
            <a:r>
              <a:t>這頁等同於簡報版的 methods / limitations。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把 mixed sample 目前應該被放在哪個位置說清楚。</a:t>
            </a:r>
          </a:p>
          <a:p>
            <a:r>
              <a:t>口頭講解重點：</a:t>
            </a:r>
          </a:p>
          <a:p>
            <a:r>
              <a:t>1. 目前只有 tumor &lt; normal &lt; mixed 的初步觀察。</a:t>
            </a:r>
          </a:p>
          <a:p>
            <a:r>
              <a:t>2. 合理推論是組織來源差異可能大於 haplotype 與癌症趨同的效應。</a:t>
            </a:r>
          </a:p>
          <a:p>
            <a:r>
              <a:t>3. 這條線現在還不是正式 closeout。</a:t>
            </a:r>
          </a:p>
          <a:p>
            <a:r>
              <a:t>完整中文推論：</a:t>
            </a:r>
          </a:p>
          <a:p>
            <a:r>
              <a:t>mixed sample 應放在主線後段的一頁 hypothesis，提醒大家它值得研究，但不能壓過純樣本主線，也不能先講成已驗證結論。</a:t>
            </a:r>
          </a:p>
          <a:p>
            <a:r>
              <a:t>數據或圖表證據：</a:t>
            </a:r>
          </a:p>
          <a:p>
            <a:r>
              <a:t>- mixed_sample.observation</a:t>
            </a:r>
          </a:p>
          <a:p>
            <a:r>
              <a:t>- mixed_sample.hypothesis_bullets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策略固定為先完成純樣本，再回頭做 mixed 校正與去噪。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說明接下來應該做什麼，以及哪些事現在不該做。</a:t>
            </a:r>
          </a:p>
          <a:p>
            <a:r>
              <a:t>口頭講解重點：</a:t>
            </a:r>
          </a:p>
          <a:p>
            <a:r>
              <a:t>1. 先把 annotation 接到輸出層。</a:t>
            </a:r>
          </a:p>
          <a:p>
            <a:r>
              <a:t>2. 繼續累積 cross-dataset 證據。</a:t>
            </a:r>
          </a:p>
          <a:p>
            <a:r>
              <a:t>3. 不要把 5kHz 單一方向直接升級成全域規則。</a:t>
            </a:r>
          </a:p>
          <a:p>
            <a:r>
              <a:t>完整中文推論：</a:t>
            </a:r>
          </a:p>
          <a:p>
            <a:r>
              <a:t>這頁真正的作用是防止研究主線再次回到『不停試規則但缺乏分層與治理』的狀態。</a:t>
            </a:r>
          </a:p>
          <a:p>
            <a:r>
              <a:t>數據或圖表證據：</a:t>
            </a:r>
          </a:p>
          <a:p>
            <a:r>
              <a:t>- next_steps.actions</a:t>
            </a:r>
          </a:p>
          <a:p>
            <a:r>
              <a:t>- next_steps.not_yet</a:t>
            </a:r>
          </a:p>
          <a:p>
            <a:r>
              <a:t>原始檔案或路徑：</a:t>
            </a:r>
          </a:p>
          <a:p>
            <a:r>
              <a:t>- /big8_disk/liaoyoyo2001/InterSubMod/docs/reports/validated/2026/03/20260312_AI自動化F1研究主線與PPT藍圖整合報告_01.md</a:t>
            </a:r>
          </a:p>
          <a:p>
            <a:r>
              <a:t>- /big8_disk/liaoyoyo2001/InterSubMod/docs/reports/validated/2026/03/20260311_研究主線週報_20260305_20260311_phase2_annotation整合_01.md</a:t>
            </a:r>
          </a:p>
          <a:p>
            <a:r>
              <a:t>補充背景：</a:t>
            </a:r>
          </a:p>
          <a:p>
            <a:r>
              <a:t>如果後續真的要升級任何規則，也應先從 annotation export 開始，而不是直接改核心流程。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這頁目的：</a:t>
            </a:r>
          </a:p>
          <a:p>
            <a:r>
              <a:t>保留複查、重生與版本追蹤入口。</a:t>
            </a:r>
          </a:p>
          <a:p>
            <a:r>
              <a:t>口頭講解重點：</a:t>
            </a:r>
          </a:p>
          <a:p>
            <a:r>
              <a:t>1. 主報告、週報、Pool B closeout、四象限整合與 config/profile 都可回查。</a:t>
            </a:r>
          </a:p>
          <a:p>
            <a:r>
              <a:t>2. 這份 deck 的生成腳本與 version.json 已固定。</a:t>
            </a:r>
          </a:p>
          <a:p>
            <a:r>
              <a:t>3. 後續再版應沿用這條生成鏈。</a:t>
            </a:r>
          </a:p>
          <a:p>
            <a:r>
              <a:t>完整中文推論：</a:t>
            </a:r>
          </a:p>
          <a:p>
            <a:r>
              <a:t>speaker notes 與 version metadata 是正式產物的一部分，目的是讓後續簡報能被重生、被 QA、被追版本。</a:t>
            </a:r>
          </a:p>
          <a:p>
            <a:r>
              <a:t>數據或圖表證據：</a:t>
            </a:r>
          </a:p>
          <a:p>
            <a:r>
              <a:t>- source_paths</a:t>
            </a:r>
          </a:p>
          <a:p>
            <a:r>
              <a:t>- deck path</a:t>
            </a:r>
          </a:p>
          <a:p>
            <a:r>
              <a:t>原始檔案或路徑：</a:t>
            </a:r>
          </a:p>
          <a:p>
            <a:r>
              <a:t>- /big8_disk/liaoyoyo2001/InterSubMod/docs/presentations/validated/2026/03/20260312_AI自動化F1研究主線與PPT藍圖整合報告_01/20260312_AI自動化F1研究主線與PPT藍圖整合報告_01.pptx</a:t>
            </a:r>
          </a:p>
          <a:p>
            <a:r>
              <a:t>- /big8_disk/liaoyoyo2001/InterSubMod/docs/references/manual/assets/20260312_ai_f1_research_pptx_config_01.json</a:t>
            </a:r>
          </a:p>
          <a:p>
            <a:r>
              <a:t>- /big8_disk/liaoyoyo2001/InterSubMod/docs/references/manual/assets/20260311_liao_research_ppt_profile_01.json</a:t>
            </a:r>
          </a:p>
          <a:p>
            <a:r>
              <a:t>補充背景：</a:t>
            </a:r>
          </a:p>
          <a:p>
            <a:r>
              <a:t>validated 之前，這份 deck 仍屬 draft，但複查鏈已完整。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" y="502920"/>
            <a:ext cx="484632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86384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 i="0">
                <a:solidFill>
                  <a:srgbClr val="2D5EA8"/>
                </a:solidFill>
                <a:latin typeface="Noto Sans TC Bold"/>
              </a:rPr>
              <a:t>研究主線結構圖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170432"/>
            <a:ext cx="3456432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8803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F0F4FB"/>
                </a:solidFill>
                <a:latin typeface="Noto Sans TC Bold"/>
              </a:rPr>
              <a:t>第一層：caller-first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71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C5D5E8"/>
                </a:solidFill>
                <a:latin typeface="Noto Sans TC"/>
              </a:rPr>
              <a:t>GQ / QUAL / FILTER 為主規則，穩定成立、跨 dataset 最一致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40280"/>
            <a:ext cx="3456432" cy="82296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50008"/>
            <a:ext cx="28803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F0F4FB"/>
                </a:solidFill>
                <a:latin typeface="Noto Sans TC Bold"/>
              </a:rPr>
              <a:t>第二層：methylation-support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24328"/>
            <a:ext cx="2971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C5D5E8"/>
                </a:solidFill>
                <a:latin typeface="Noto Sans TC"/>
              </a:rPr>
              <a:t>Quality_Score / PairwiseMedianDist / agreement_positive 補強排序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" y="3310128"/>
            <a:ext cx="3456432" cy="822960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3" y="3419856"/>
            <a:ext cx="28803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17202A"/>
                </a:solidFill>
                <a:latin typeface="Noto Sans TC Bold"/>
              </a:rPr>
              <a:t>第三層：haplotype / SNV / 甲基共分析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3" y="3694176"/>
            <a:ext cx="2971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17202A"/>
                </a:solidFill>
                <a:latin typeface="Noto Sans TC"/>
              </a:rPr>
              <a:t>驗證 label 合理性、subclone 研究、annotation / QC /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443984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 i="0">
                <a:solidFill>
                  <a:srgbClr val="2D5EA8"/>
                </a:solidFill>
                <a:latin typeface="Noto Sans TC Bold"/>
              </a:rPr>
              <a:t>四象限資料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736592"/>
            <a:ext cx="1170432" cy="512064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837176"/>
            <a:ext cx="987552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 Bold"/>
              </a:rPr>
              <a:t>5kHz
paired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4736592"/>
            <a:ext cx="1170432" cy="512064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4837176"/>
            <a:ext cx="987552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 Bold"/>
              </a:rPr>
              <a:t>DORADO
paired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4736592"/>
            <a:ext cx="1170432" cy="512064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4837176"/>
            <a:ext cx="987552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 Bold"/>
              </a:rPr>
              <a:t>5kHz
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5321808"/>
            <a:ext cx="1170432" cy="512064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5422392"/>
            <a:ext cx="987552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40" b="1" i="0">
                <a:solidFill>
                  <a:srgbClr val="17202A"/>
                </a:solidFill>
                <a:latin typeface="Noto Sans TC Bold"/>
              </a:rPr>
              <a:t>DORADO
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841248"/>
            <a:ext cx="41148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2D5EA8"/>
                </a:solidFill>
                <a:latin typeface="Arial"/>
              </a:rPr>
              <a:t>InterSubMod AI 自動化 F1 研究主線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234440"/>
            <a:ext cx="5852160" cy="9601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7202A"/>
                </a:solidFill>
                <a:latin typeface="Noto Sans TC Bold"/>
              </a:rPr>
              <a:t>用 AI / Agent 自動化推進 InterSubMod F1-score 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2267712"/>
            <a:ext cx="53035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Arial"/>
              </a:rPr>
              <a:t>AI-assisted InterSubMod F1-score Optimization and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50992" y="2743200"/>
            <a:ext cx="544068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2980944"/>
            <a:ext cx="4892040" cy="5669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40" b="1" i="0">
                <a:solidFill>
                  <a:srgbClr val="F0F4FB"/>
                </a:solidFill>
                <a:latin typeface="Noto Sans TC Bold"/>
              </a:rPr>
              <a:t>最穩定結論：caller-first 主規則 → 甲基 support/annotation → haplotype 共分析三層分工。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50992" y="4133087"/>
            <a:ext cx="1920240" cy="71323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8736" y="4370832"/>
            <a:ext cx="148132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40" b="1" i="0">
                <a:solidFill>
                  <a:srgbClr val="F0F4FB"/>
                </a:solidFill>
                <a:latin typeface="Noto Sans TC Bold"/>
              </a:rPr>
              <a:t>16 頁技術深度版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4133087"/>
            <a:ext cx="1920240" cy="713232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297680"/>
            <a:ext cx="1517904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80" b="1" i="0">
                <a:solidFill>
                  <a:srgbClr val="17202A"/>
                </a:solidFill>
                <a:latin typeface="Noto Sans TC Bold"/>
              </a:rPr>
              <a:t>研究內部技術深度驗證版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4133087"/>
            <a:ext cx="1225296" cy="713232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688" y="4370832"/>
            <a:ext cx="7498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40" b="1" i="0">
                <a:solidFill>
                  <a:srgbClr val="17202A"/>
                </a:solidFill>
                <a:latin typeface="Arial Bold"/>
              </a:rPr>
              <a:t>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8" y="5230368"/>
            <a:ext cx="25603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5E6572"/>
                </a:solidFill>
                <a:latin typeface="Noto Sans TC"/>
              </a:rPr>
              <a:t>報告整理時間｜2026-03-12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230368"/>
            <a:ext cx="18288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5E6572"/>
                </a:solidFill>
                <a:latin typeface="Noto Sans TC"/>
              </a:rPr>
              <a:t>報告人｜廖子游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68" y="5614416"/>
            <a:ext cx="47548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0" i="0">
                <a:solidFill>
                  <a:srgbClr val="2D5EA8"/>
                </a:solidFill>
                <a:latin typeface="Noto Sans TC"/>
              </a:rPr>
              <a:t>所有細節推論與絕對路徑均嵌入 speaker notes。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5D5E8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C5D5E8"/>
                </a:solidFill>
                <a:latin typeface="Arial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報告總覽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先講研究問題與主結論，再依序處理 paired、TO、Pool B、annotation 與 mixed sample。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4892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057400"/>
            <a:ext cx="219456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Arial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01952"/>
            <a:ext cx="3154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Noto Sans TC Bold"/>
              </a:rPr>
              <a:t>主結論與 AI 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19456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Noto Sans TC"/>
              </a:rPr>
              <a:t>第 3-6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55648"/>
            <a:ext cx="4892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920240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2057400"/>
            <a:ext cx="219456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Arial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901952"/>
            <a:ext cx="3154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Noto Sans TC Bold"/>
              </a:rPr>
              <a:t>樣本策略與 paired/TO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19456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Noto Sans TC"/>
              </a:rPr>
              <a:t>第 7-9 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054096"/>
            <a:ext cx="4892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218688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355848"/>
            <a:ext cx="219456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Arial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200400"/>
            <a:ext cx="3154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Noto Sans TC Bold"/>
              </a:rPr>
              <a:t>前段 TP rescue：Pool B FN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493008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Noto Sans TC"/>
              </a:rPr>
              <a:t>第 10 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054096"/>
            <a:ext cx="4892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218688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3355848"/>
            <a:ext cx="219456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Arial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200400"/>
            <a:ext cx="3154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Noto Sans TC Bold"/>
              </a:rPr>
              <a:t>特徵分工與 annotation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493008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Noto Sans TC"/>
              </a:rPr>
              <a:t>第 11-13 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352544"/>
            <a:ext cx="4892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517136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4654296"/>
            <a:ext cx="219456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Arial 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498848"/>
            <a:ext cx="3154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Noto Sans TC Bold"/>
              </a:rPr>
              <a:t>mixed sample 與下一步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4791456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Noto Sans TC"/>
              </a:rPr>
              <a:t>第 14-15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4352544"/>
            <a:ext cx="4892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4517136"/>
            <a:ext cx="530352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654296"/>
            <a:ext cx="219456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40" b="1" i="0">
                <a:solidFill>
                  <a:srgbClr val="F0F4FB"/>
                </a:solidFill>
                <a:latin typeface="Arial 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498848"/>
            <a:ext cx="3154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Noto Sans TC Bold"/>
              </a:rPr>
              <a:t>附錄與重生路徑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791456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Noto Sans TC"/>
              </a:rPr>
              <a:t>第 16 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" y="5815584"/>
            <a:ext cx="10698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925312"/>
            <a:ext cx="1014984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Noto Sans TC"/>
              </a:rPr>
              <a:t>高層導讀：本 deck 的重點不是再推一條新規則，而是把 caller、甲基 support、annotation 與 mixed 假說放到正確層次。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F0F4FB"/>
                </a:solidFill>
                <a:latin typeface="Noto Sans TC Bold"/>
              </a:rPr>
              <a:t>破題結論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6DAEE0"/>
                </a:solidFill>
                <a:latin typeface="Arial"/>
              </a:rPr>
              <a:t>Opening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C5D5E8"/>
                </a:solidFill>
                <a:latin typeface="Noto Sans TC"/>
              </a:rPr>
              <a:t>目前最穩定的結論是 caller-first；甲基訊號有價值，但還沒有穩定升級成第一層主規則。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19072"/>
            <a:ext cx="5989320" cy="1572768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56816"/>
            <a:ext cx="544068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50" b="1" i="0">
                <a:solidFill>
                  <a:srgbClr val="F0F4FB"/>
                </a:solidFill>
                <a:latin typeface="Noto Sans TC Bold"/>
              </a:rPr>
              <a:t>最穩定結論：caller-first 主規則 → methylation-support / annotation → haplotype / SNV / 甲基共分析。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16352"/>
            <a:ext cx="52578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C5D5E8"/>
                </a:solidFill>
                <a:latin typeface="Arial"/>
              </a:rPr>
              <a:t>Stable structure: caller-first, then methylation support/annotation, then multi-omics co-analysis.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712463"/>
            <a:ext cx="3401568" cy="13258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858768"/>
            <a:ext cx="2834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20" b="1" i="0">
                <a:solidFill>
                  <a:srgbClr val="F0F4FB"/>
                </a:solidFill>
                <a:latin typeface="Noto Sans TC Bold"/>
              </a:rPr>
              <a:t>第一層：caller-first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96512"/>
            <a:ext cx="2788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F0F4FB"/>
                </a:solidFill>
                <a:latin typeface="Arial"/>
              </a:rPr>
              <a:t>Layer 1: Caller-first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70832"/>
            <a:ext cx="27889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C5D5E8"/>
                </a:solidFill>
                <a:latin typeface="Noto Sans TC"/>
              </a:rPr>
              <a:t>GQ / QUAL / FILTER 為主規則，穩定成立、跨 dataset 最一致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3712463"/>
            <a:ext cx="3401568" cy="132588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3858768"/>
            <a:ext cx="2834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20" b="1" i="0">
                <a:solidFill>
                  <a:srgbClr val="F0F4FB"/>
                </a:solidFill>
                <a:latin typeface="Noto Sans TC Bold"/>
              </a:rPr>
              <a:t>第二層：methylation-support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4096512"/>
            <a:ext cx="2788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F0F4FB"/>
                </a:solidFill>
                <a:latin typeface="Arial"/>
              </a:rPr>
              <a:t>Layer 2: Methylation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370832"/>
            <a:ext cx="27889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C5D5E8"/>
                </a:solidFill>
                <a:latin typeface="Noto Sans TC"/>
              </a:rPr>
              <a:t>Quality_Score / PairwiseMedianDist / agreement_positive 補強排序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3712463"/>
            <a:ext cx="3401568" cy="1325880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58768"/>
            <a:ext cx="2834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20" b="1" i="0">
                <a:solidFill>
                  <a:srgbClr val="17202A"/>
                </a:solidFill>
                <a:latin typeface="Noto Sans TC Bold"/>
              </a:rPr>
              <a:t>第三層：haplotype / SNV / 甲基共分析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96512"/>
            <a:ext cx="2788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17202A"/>
                </a:solidFill>
                <a:latin typeface="Arial"/>
              </a:rPr>
              <a:t>Layer 3: Multi-omics Co-analysis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70832"/>
            <a:ext cx="27889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17202A"/>
                </a:solidFill>
                <a:latin typeface="Noto Sans TC"/>
              </a:rPr>
              <a:t>驗證 label 合理性、subclone 研究、annotation / QC / diagnostics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719072"/>
            <a:ext cx="4078224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901952"/>
            <a:ext cx="25603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00" b="1" i="0">
                <a:solidFill>
                  <a:srgbClr val="17202A"/>
                </a:solidFill>
                <a:latin typeface="Noto Sans TC Bold"/>
              </a:rPr>
              <a:t>三句一定要先講清楚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212848"/>
            <a:ext cx="36576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caller-first 是目前最穩定的主規則（GQ、QUAL、FILTER）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甲基特徵有用，但多數應定位為 support / annotation，尚未穩定超過最佳 caller-only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5kHz 上成立的規則，不能直接假設在 DORADO 同樣成立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504688"/>
            <a:ext cx="10698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632704"/>
            <a:ext cx="10149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60" b="1" i="0">
                <a:solidFill>
                  <a:srgbClr val="17202A"/>
                </a:solidFill>
                <a:latin typeface="Noto Sans TC Bold"/>
              </a:rPr>
              <a:t>這份簡報之後的所有數據頁，都只是把這個結論拆開驗證，而不是推翻它。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5D5E8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C5D5E8"/>
                </a:solidFill>
                <a:latin typeface="Arial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為什麼最近改用 AI / Agent 自動化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Why AI-assisted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研究策略已從手動觀察零散位點，轉成可持續重跑、回寫、追版本的研究循環。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4983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61888" y="1755648"/>
            <a:ext cx="54406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97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 i="0">
                <a:solidFill>
                  <a:srgbClr val="2D5EA8"/>
                </a:solidFill>
                <a:latin typeface="Arial Bold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920240"/>
            <a:ext cx="1097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1" i="0">
                <a:solidFill>
                  <a:srgbClr val="2D5EA8"/>
                </a:solidFill>
                <a:latin typeface="Arial Bold"/>
              </a:rP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249424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44768" y="2249424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14016"/>
            <a:ext cx="4114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Noto Sans TC"/>
              </a:rPr>
              <a:t>手動觀察少數位點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359152"/>
            <a:ext cx="45720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AI 自動讀 docs/knowledge，對齊主線與已驗證結論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017520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3017520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182112"/>
            <a:ext cx="4114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Noto Sans TC"/>
              </a:rPr>
              <a:t>手動試少量規則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127248"/>
            <a:ext cx="45720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AI 自動跑 feature sweep / candidate rescue / 參數組合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785615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3785615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950207"/>
            <a:ext cx="4114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Noto Sans TC"/>
              </a:rPr>
              <a:t>手動記錄零散結論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95344"/>
            <a:ext cx="45720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每輪實驗產生結構化 .md 報告，自動寫入索引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553712"/>
            <a:ext cx="4526280" cy="566928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4553712"/>
            <a:ext cx="4983480" cy="56692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718304"/>
            <a:ext cx="4114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Noto Sans TC"/>
              </a:rPr>
              <a:t>每次重開對話從頭理解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663440"/>
            <a:ext cx="45720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AI 沿著已驗證主軸繼續推進，不重複踩舊方向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77840"/>
            <a:ext cx="10698480" cy="43891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687568"/>
            <a:ext cx="101498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0" b="0" i="0">
                <a:solidFill>
                  <a:srgbClr val="F0F4FB"/>
                </a:solidFill>
                <a:latin typeface="Noto Sans TC"/>
              </a:rPr>
              <a:t>研究價值：每個方向都留下可複查的數據與結論；快速識別哪些規則只在單一樣本成立；不穩定特徵先降階為 annotation，不過早硬接主規則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這輪刻意只限制 AI 先做兩類問題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Two Restricted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前段救 TP 與後段刪 FP 必須拆開談，因為兩者母體不同。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4892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691640" cy="493776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48256"/>
            <a:ext cx="40233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F0F4FB"/>
                </a:solidFill>
                <a:latin typeface="Noto Sans TC Bold"/>
              </a:rPr>
              <a:t>問題 A：後段刪 FP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23774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1" i="0">
                <a:solidFill>
                  <a:srgbClr val="2D5EA8"/>
                </a:solidFill>
                <a:latin typeface="Arial"/>
              </a:rPr>
              <a:t>FP Triage (Post-caller)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52928"/>
            <a:ext cx="4343400" cy="4754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Noto Sans TC"/>
              </a:rPr>
              <a:t>caller / LongPhase / InterSubMod 最終輸出後，能否再刪 FP 而不刪太多 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66160"/>
            <a:ext cx="12801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 Bold"/>
              </a:rPr>
              <a:t>典型研究子集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3904"/>
            <a:ext cx="4251960" cy="9875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5kHz paired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5kHz TO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DORADO paired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DORADO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47488"/>
            <a:ext cx="4526280" cy="512064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212080"/>
            <a:ext cx="41605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17202A"/>
                </a:solidFill>
                <a:latin typeface="Noto Sans TC"/>
              </a:rPr>
              <a:t>母體：caller 已保留的 call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755648"/>
            <a:ext cx="48920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920240"/>
            <a:ext cx="1691640" cy="493776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048256"/>
            <a:ext cx="40233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F0F4FB"/>
                </a:solidFill>
                <a:latin typeface="Noto Sans TC Bold"/>
              </a:rPr>
              <a:t>問題 B：前段救 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578608"/>
            <a:ext cx="23774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1" i="0">
                <a:solidFill>
                  <a:srgbClr val="2D5EA8"/>
                </a:solidFill>
                <a:latin typeface="Arial"/>
              </a:rPr>
              <a:t>TP Rescue (Pre-caller)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852928"/>
            <a:ext cx="4343400" cy="4754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17202A"/>
                </a:solidFill>
                <a:latin typeface="Noto Sans TC"/>
              </a:rPr>
              <a:t>一開始被 caller 移掉的 truth-like 位點，能否透過放寬條件配合甲基結果救回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566160"/>
            <a:ext cx="12801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 Bold"/>
              </a:rPr>
              <a:t>典型研究子集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03904"/>
            <a:ext cx="4251960" cy="9875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caller_lost_tp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Pool B FN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candidate-specific rescue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5047488"/>
            <a:ext cx="4526280" cy="512064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5212080"/>
            <a:ext cx="41605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17202A"/>
                </a:solidFill>
                <a:latin typeface="Noto Sans TC"/>
              </a:rPr>
              <a:t>母體：caller 已刷掉的 non-PASS 或 lost TP 候選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6199632"/>
            <a:ext cx="106984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6254496"/>
            <a:ext cx="1014984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0" i="0">
                <a:solidFill>
                  <a:srgbClr val="5E6572"/>
                </a:solidFill>
                <a:latin typeface="Noto Sans TC"/>
              </a:rPr>
              <a:t>兩類問題母體不同，不能混成同一套規則。AlleleDelta 在兩種母體中方向可能相反。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自動化研究流程與 tagged BAM 的角色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這條流程真正的核心，是把報告、資料、LongPhase、InterSubMod 與回寫索引接成一條可重跑鏈。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173736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" y="1993392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66544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1401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F0F4FB"/>
                </a:solidFill>
                <a:latin typeface="Noto Sans TC"/>
              </a:rPr>
              <a:t>讀 docs/knowledge
對齊主線與已驗證結論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901952"/>
            <a:ext cx="1737360" cy="107899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993392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066544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1401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F0F4FB"/>
                </a:solidFill>
                <a:latin typeface="Noto Sans TC"/>
              </a:rPr>
              <a:t>找 caller output
benchmark 結果與 truth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1901952"/>
            <a:ext cx="1737360" cy="1078992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01184" y="1993392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066544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41401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17202A"/>
                </a:solidFill>
                <a:latin typeface="Noto Sans TC"/>
              </a:rPr>
              <a:t>執行 LongPhase-S
或 LongPhase-TO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901952"/>
            <a:ext cx="173736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76288" y="1993392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2066544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41401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F0F4FB"/>
                </a:solidFill>
                <a:latin typeface="Noto Sans TC"/>
              </a:rPr>
              <a:t>產生 tagged BAM
InterSubMod 必要輸入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10512" y="3822191"/>
            <a:ext cx="1737360" cy="107899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20240" y="3913631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3986783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433425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F0F4FB"/>
                </a:solidFill>
                <a:latin typeface="Noto Sans TC"/>
              </a:rPr>
              <a:t>跑 candidate rescue
feature sweep 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5615" y="3822191"/>
            <a:ext cx="1737360" cy="1078992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95344" y="3913631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86783" y="3986783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1" y="433425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17202A"/>
                </a:solidFill>
                <a:latin typeface="Noto Sans TC"/>
              </a:rPr>
              <a:t>寫成研究報告
每輪實驗結構化輸出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822191"/>
            <a:ext cx="1737360" cy="10789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70448" y="3913631"/>
            <a:ext cx="3474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3986783"/>
            <a:ext cx="146304" cy="91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17202A"/>
                </a:solidFill>
                <a:latin typeface="Arial Bold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334256"/>
            <a:ext cx="14447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50" b="0" i="0">
                <a:solidFill>
                  <a:srgbClr val="F0F4FB"/>
                </a:solidFill>
                <a:latin typeface="Noto Sans TC"/>
              </a:rPr>
              <a:t>回寫 CURRENT_FOCUS
INDEX 與主線整合報告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901952"/>
            <a:ext cx="199339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2066543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Noto Sans TC Bold"/>
              </a:rPr>
              <a:t>tagged BAM 為什麼重要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2414016"/>
            <a:ext cx="1664208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17202A"/>
                </a:solidFill>
                <a:latin typeface="Noto Sans TC"/>
              </a:rPr>
              <a:t>InterSubMod 需要 haplotagged BAM。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17202A"/>
                </a:solidFill>
                <a:latin typeface="Noto Sans TC"/>
              </a:rPr>
              <a:t>沒有 tagged BAM，就不能做真正的 HP / label-first 驗證。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17202A"/>
                </a:solidFill>
                <a:latin typeface="Noto Sans TC"/>
              </a:rPr>
              <a:t>因此 paired 用 LongPhase-S，TO 用 LongPhase-TO。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4272" y="4315968"/>
            <a:ext cx="1682496" cy="42062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4443984"/>
            <a:ext cx="1426464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80" b="1" i="0">
                <a:solidFill>
                  <a:srgbClr val="F0F4FB"/>
                </a:solidFill>
                <a:latin typeface="Noto Sans TC Bold"/>
              </a:rPr>
              <a:t>先純樣本，再 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樣本策略：為什麼先做 5kHz，再用 DORADO 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Sample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5kHz 提供規則壓力測試；DORADO 負責檢查這些規則是否只是平台特異性。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10512"/>
            <a:ext cx="4983480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75104"/>
            <a:ext cx="2231136" cy="5486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139696"/>
            <a:ext cx="42062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F0F4FB"/>
                </a:solidFill>
                <a:latin typeface="Noto Sans TC Bold"/>
              </a:rPr>
              <a:t>HCC1395_HKU_5kHz（主）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88336"/>
            <a:ext cx="25603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Arial"/>
              </a:rPr>
              <a:t>Primary: 5kHz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462272" cy="1920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較 noisy，FP 較多，適合找刪 FP / 救 TP 規則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big8_disk 已有完整 paired / TO tagged BAM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主實驗壓力測試場景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10512"/>
            <a:ext cx="4983480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1975104"/>
            <a:ext cx="2231136" cy="54864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139696"/>
            <a:ext cx="42062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F0F4FB"/>
                </a:solidFill>
                <a:latin typeface="Noto Sans TC Bold"/>
              </a:rPr>
              <a:t>HCC1395_DORADO（輔）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88336"/>
            <a:ext cx="25603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2D5EA8"/>
                </a:solidFill>
                <a:latin typeface="Arial"/>
              </a:rPr>
              <a:t>Cross-validation: DORADO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999232"/>
            <a:ext cx="4462272" cy="1920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同樣本、不同定序流程，乾淨基準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用來檢查規則是否只是平台特異性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candidate-window subset tagged BAM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998464"/>
            <a:ext cx="106984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6071616"/>
            <a:ext cx="1014984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E6572"/>
                </a:solidFill>
                <a:latin typeface="Noto Sans TC"/>
              </a:rPr>
              <a:t>big8_disk 空間有限，其他樣本後續移至 big7_disk。5kHz paired / TO 完整 tagged BAM 已驗證；DORADO TO 為 candidate-window subset。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paired 主結果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Paired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paired 問題目前最合理的口徑是：caller 與 LongPhase 已做掉主要改善，InterSubMod 在 5kHz 上再做少量 precision 精修。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81228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re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93392"/>
            <a:ext cx="6446520" cy="3273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5394960"/>
            <a:ext cx="6126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5E6572"/>
                </a:solidFill>
                <a:latin typeface="Noto Sans TC"/>
              </a:rPr>
              <a:t>圖表解讀：兩個 paired dataset 都先經過 ClairS → LongPhase-S → InterSubMod，比較 F1 變化與增益來源。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1847088"/>
            <a:ext cx="3529584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993392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40" b="1" i="0">
                <a:solidFill>
                  <a:srgbClr val="2D5EA8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212848"/>
            <a:ext cx="3072384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80">
                <a:solidFill>
                  <a:srgbClr val="17202A"/>
                </a:solidFill>
                <a:latin typeface="Noto Sans TC"/>
              </a:rPr>
              <a:t>ClairS 0.8443 → LongPhase-S 0.8522 → InterSubMod 0.8532</a:t>
            </a:r>
          </a:p>
          <a:p>
            <a:pPr algn="l">
              <a:spcAft>
                <a:spcPts val="300"/>
              </a:spcAft>
            </a:pPr>
            <a:r>
              <a:rPr sz="980">
                <a:solidFill>
                  <a:srgbClr val="17202A"/>
                </a:solidFill>
                <a:latin typeface="Noto Sans TC"/>
              </a:rPr>
              <a:t>增益來源：FP 627 → 544，額外少 83 個 FP</a:t>
            </a:r>
          </a:p>
          <a:p>
            <a:pPr algn="l">
              <a:spcAft>
                <a:spcPts val="300"/>
              </a:spcAft>
            </a:pPr>
            <a:r>
              <a:rPr sz="980">
                <a:solidFill>
                  <a:srgbClr val="17202A"/>
                </a:solidFill>
                <a:latin typeface="Noto Sans TC"/>
              </a:rPr>
              <a:t>TP 並未大量救回，反而少 2 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3529584"/>
            <a:ext cx="3529584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675888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40" b="1" i="0">
                <a:solidFill>
                  <a:srgbClr val="2D5EA8"/>
                </a:solidFill>
                <a:latin typeface="Noto Sans TC Bold"/>
              </a:rPr>
              <a:t>DORADO paired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3895344"/>
            <a:ext cx="3072384" cy="8412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80">
                <a:solidFill>
                  <a:srgbClr val="17202A"/>
                </a:solidFill>
                <a:latin typeface="Noto Sans TC"/>
              </a:rPr>
              <a:t>ClairS 0.8565 → LongPhase-S 0.8592 → InterSubMod 0.8590</a:t>
            </a:r>
          </a:p>
          <a:p>
            <a:pPr algn="l">
              <a:spcAft>
                <a:spcPts val="300"/>
              </a:spcAft>
            </a:pPr>
            <a:r>
              <a:rPr sz="980">
                <a:solidFill>
                  <a:srgbClr val="17202A"/>
                </a:solidFill>
                <a:latin typeface="Noto Sans TC"/>
              </a:rPr>
              <a:t>InterSubMod 與 LongPhase-S 幾乎持平略負</a:t>
            </a:r>
          </a:p>
          <a:p>
            <a:pPr algn="l">
              <a:spcAft>
                <a:spcPts val="300"/>
              </a:spcAft>
            </a:pPr>
            <a:r>
              <a:rPr sz="980">
                <a:solidFill>
                  <a:srgbClr val="17202A"/>
                </a:solidFill>
                <a:latin typeface="Noto Sans TC"/>
              </a:rPr>
              <a:t>代表規則方向不可直接宣稱跨平台可攜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5376672"/>
            <a:ext cx="3529584" cy="603504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5559552"/>
            <a:ext cx="312724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1" i="0">
                <a:solidFill>
                  <a:srgbClr val="17202A"/>
                </a:solidFill>
                <a:latin typeface="Noto Sans TC"/>
              </a:rPr>
              <a:t>重點：paired 的正式口徑是『precision 精修』，不是『大量 TP rescue』。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tumor-only 主結果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Tumor-only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TO 下 caller-first 與甲基 support 都成立，但在固定 caller gate 後，甲基尚未穩定超過 caller-only。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0807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5104"/>
            <a:ext cx="5687568" cy="2999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175504"/>
            <a:ext cx="55321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E6572"/>
                </a:solidFill>
                <a:latin typeface="Noto Sans TC"/>
              </a:rPr>
              <a:t>圖表解讀：左圖為 5kHz TO，右圖為 DORADO TO；Y 軸皆為相對 baseline 的 ΔF1。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792224"/>
            <a:ext cx="4169663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1938528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2D5EA8"/>
                </a:solidFill>
                <a:latin typeface="Noto Sans TC Bold"/>
              </a:rPr>
              <a:t>HCC1395 5kHz TO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59" y="2231136"/>
          <a:ext cx="37307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253"/>
                <a:gridCol w="513975"/>
                <a:gridCol w="513975"/>
                <a:gridCol w="797547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規則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TP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FP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ΔF1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gq&gt;=10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+0.006943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PairwiseMedianDist&gt;=0.20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300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68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+0.004219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agreement_positive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+0.002163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42048" y="3236976"/>
            <a:ext cx="35661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5E6572"/>
                </a:solidFill>
                <a:latin typeface="Noto Sans TC"/>
              </a:rPr>
              <a:t>caller-first 與甲基 support 都有單獨正效果，但甲基仍未超過最佳 caller-only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3877056"/>
            <a:ext cx="4169663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402336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2D5EA8"/>
                </a:solidFill>
                <a:latin typeface="Noto Sans TC Bold"/>
              </a:rPr>
              <a:t>HCC1395 DORADO TO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3759" y="4315968"/>
          <a:ext cx="37307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253"/>
                <a:gridCol w="513975"/>
                <a:gridCol w="513975"/>
                <a:gridCol w="797547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規則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TP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FP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0F4FB"/>
                          </a:solidFill>
                          <a:latin typeface="Noto Sans TC"/>
                        </a:rPr>
                        <a:t>ΔF1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gq&gt;=10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+0.000540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Quality_Score&gt;=60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208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77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+0.002620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PairwiseMedianDist&lt;=0.20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7202A"/>
                          </a:solidFill>
                          <a:latin typeface="Noto Sans TC"/>
                        </a:rPr>
                        <a:t>+0.002217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42048" y="5321808"/>
            <a:ext cx="35661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5E6572"/>
                </a:solidFill>
                <a:latin typeface="Noto Sans TC"/>
              </a:rPr>
              <a:t>DORADO 的 Pairwise 方向與 5kHz 相反（&lt;=0.20），支持 dataset-dependence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Pool B FN：前段 TP rescue 問題的正式收尾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Pool B FN Closeout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Pool B 再次證明 caller-side rescue 空間存在，但甲基只提供弱補強，沒有翻盤。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2788920" cy="440740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029968"/>
            <a:ext cx="18288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600" b="1" i="0">
                <a:solidFill>
                  <a:srgbClr val="F0F4FB"/>
                </a:solidFill>
                <a:latin typeface="Noto Sans TC Bold"/>
              </a:rPr>
              <a:t>Pool B 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697480"/>
            <a:ext cx="210312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4000" b="1" i="0">
                <a:solidFill>
                  <a:srgbClr val="F0F4FB"/>
                </a:solidFill>
                <a:latin typeface="Arial Bold"/>
              </a:rPr>
              <a:t>840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56432"/>
            <a:ext cx="23774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19" b="0" i="0">
                <a:solidFill>
                  <a:srgbClr val="C5D5E8"/>
                </a:solidFill>
                <a:latin typeface="Noto Sans TC"/>
              </a:rPr>
              <a:t>個 non-PASS 但 truth set 包含的位點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79392"/>
            <a:ext cx="2267712" cy="107899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590288"/>
            <a:ext cx="1901952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0F4FB"/>
                </a:solidFill>
                <a:latin typeface="Noto Sans TC Bold"/>
              </a:rPr>
              <a:t>這是一條『前段救 TP』問題，
不能和 kept-set artifact triage 混寫。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1810512"/>
            <a:ext cx="385876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783" y="1920240"/>
            <a:ext cx="29260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2D5EA8"/>
                </a:solidFill>
                <a:latin typeface="Noto Sans TC Bold"/>
              </a:rPr>
              <a:t>no_varcluster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3" y="2212848"/>
            <a:ext cx="32461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17202A"/>
                </a:solidFill>
                <a:latin typeface="Noto Sans TC"/>
              </a:rPr>
              <a:t>TP 428 | FP 390 | ΔF1 +0.003391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3" y="2505456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E6572"/>
                </a:solidFill>
                <a:latin typeface="Noto Sans TC"/>
              </a:rPr>
              <a:t>caller rescue 空間存在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2191" y="3182112"/>
            <a:ext cx="385876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3" y="3291840"/>
            <a:ext cx="29260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2D5EA8"/>
                </a:solidFill>
                <a:latin typeface="Noto Sans TC Bold"/>
              </a:rPr>
              <a:t>no_varcluster + gq15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3" y="3584448"/>
            <a:ext cx="32461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17202A"/>
                </a:solidFill>
                <a:latin typeface="Noto Sans TC"/>
              </a:rPr>
              <a:t>TP 115 | FP 45 | precision 71.9% | ΔF1 較小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3" y="3877056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E6572"/>
                </a:solidFill>
                <a:latin typeface="Noto Sans TC"/>
              </a:rPr>
              <a:t>最高 precision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2191" y="4553712"/>
            <a:ext cx="385876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3" y="4663440"/>
            <a:ext cx="29260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2D5EA8"/>
                </a:solidFill>
                <a:latin typeface="Noto Sans TC Bold"/>
              </a:rPr>
              <a:t>gq15 + allele_delta_low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3" y="4956048"/>
            <a:ext cx="32461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17202A"/>
                </a:solidFill>
                <a:latin typeface="Noto Sans TC"/>
              </a:rPr>
              <a:t>TP 431 | FP 473 | ΔF1 +0.002702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3" y="5248656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E6572"/>
                </a:solidFill>
                <a:latin typeface="Noto Sans TC"/>
              </a:rPr>
              <a:t>甲基只提供弱補強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1810512"/>
            <a:ext cx="3529584" cy="3877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Noto Sans TC Bold"/>
              </a:rPr>
              <a:t>Pool B 要帶出的口徑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340864"/>
            <a:ext cx="2971800" cy="1965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Pool B 再次證明 caller-side rescue 空間存在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甲基只提供弱補強，沒有超過 caller-only 最佳規則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AlleleDelta 在 Pool B 與 TO kept-set 方向不同，不可混成全域規則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4901184"/>
            <a:ext cx="2926080" cy="438912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5029200"/>
            <a:ext cx="2670048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1" i="0">
                <a:solidFill>
                  <a:srgbClr val="17202A"/>
                </a:solidFill>
                <a:latin typeface="Noto Sans TC"/>
              </a:rPr>
              <a:t>關鍵：AlleleDelta 在 Pool B 與 kept-set / artifact triage 的方向不同。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現在最重要的特徵與分工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Feature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有用的特徵不一定能升級成主規則；有些特徵最合理的位置，是 support、annotation 或 artifact 旁路。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19072"/>
          <a:ext cx="1097279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315"/>
                <a:gridCol w="1540042"/>
                <a:gridCol w="2213810"/>
                <a:gridCol w="4812631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F0F4FB"/>
                          </a:solidFill>
                          <a:latin typeface="Noto Sans TC"/>
                        </a:rPr>
                        <a:t>特徵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0F4FB"/>
                          </a:solidFill>
                          <a:latin typeface="Noto Sans TC"/>
                        </a:rPr>
                        <a:t>可否升級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0F4FB"/>
                          </a:solidFill>
                          <a:latin typeface="Noto Sans TC"/>
                        </a:rPr>
                        <a:t>目前定位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0F4FB"/>
                          </a:solidFill>
                          <a:latin typeface="Noto Sans TC"/>
                        </a:rPr>
                        <a:t>不能怎麼用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GQ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✓ 已是主規則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caller-first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不可直接解讀成 caller 應全面放寬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QUAL&gt;=10 or GQ&gt;=20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○ dataset-specific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5kHz TO caller gate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不可寫成所有 TO 的通則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Quality_Score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↑ 可升 annotation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兩個 TO 都有正訊號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不可直接 hard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PairwiseMedianDist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↑ 可升 dataset-aware annotation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5kHz 偏高；DORADO 偏低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不可全域固定方向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agreement_positive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○ 保留為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5kHz TO 較有價值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不可當所有 dataset 主 rescue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Strong / Subclone label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✗ 不可升級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部分情境可解讀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FP 也可能很高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low VAF + high AD + low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○ 保留 artifact 旁路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5kHz 刪 FP 有用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7202A"/>
                          </a:solidFill>
                          <a:latin typeface="Noto Sans TC"/>
                        </a:rPr>
                        <a:t>不可當 TP rescue 主規則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5577840"/>
            <a:ext cx="1069848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5687568"/>
            <a:ext cx="10149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17202A"/>
                </a:solidFill>
                <a:latin typeface="Noto Sans TC Bold"/>
              </a:rPr>
              <a:t>這張表的重點不是『誰有用』，而是『每個訊號現在應該被擺在哪一層』。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annotation / 三層架構：現在最合理的整合方式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Annotation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這個三層架構不是抽象口號，而是目前最適合繼續研究與輸出的方法學切分。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10512"/>
            <a:ext cx="3310128" cy="146304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7432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F0F4FB"/>
                </a:solidFill>
                <a:latin typeface="Noto Sans TC Bold"/>
              </a:rPr>
              <a:t>第一層：caller-first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2761488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90" b="0" i="0">
                <a:solidFill>
                  <a:srgbClr val="C5D5E8"/>
                </a:solidFill>
                <a:latin typeface="Noto Sans TC"/>
              </a:rPr>
              <a:t>GQ / QUAL / FILTER 為主規則，穩定成立、跨 dataset 最一致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10512"/>
            <a:ext cx="3310128" cy="1463040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93392"/>
            <a:ext cx="27432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F0F4FB"/>
                </a:solidFill>
                <a:latin typeface="Noto Sans TC Bold"/>
              </a:rPr>
              <a:t>第二層：methylation-support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304288"/>
            <a:ext cx="2761488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90" b="0" i="0">
                <a:solidFill>
                  <a:srgbClr val="C5D5E8"/>
                </a:solidFill>
                <a:latin typeface="Noto Sans TC"/>
              </a:rPr>
              <a:t>Quality_Score / PairwiseMedianDist / agreement_positive 補強排序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810512"/>
            <a:ext cx="3310128" cy="1463040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993392"/>
            <a:ext cx="27432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Noto Sans TC Bold"/>
              </a:rPr>
              <a:t>第三層：haplotype / SNV / 甲基共分析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304288"/>
            <a:ext cx="2761488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90" b="0" i="0">
                <a:solidFill>
                  <a:srgbClr val="17202A"/>
                </a:solidFill>
                <a:latin typeface="Noto Sans TC"/>
              </a:rPr>
              <a:t>驗證 label 合理性、subclone 研究、annotation / QC / diagnostics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67328"/>
            <a:ext cx="4864608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7705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F0F4FB"/>
                </a:solidFill>
                <a:latin typeface="Arial Bold"/>
              </a:rPr>
              <a:t>GQ / QUAL /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7705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F0F4FB"/>
                </a:solidFill>
                <a:latin typeface="Noto Sans TC Bold"/>
              </a:rPr>
              <a:t>caller-first 主規則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9664"/>
            <a:ext cx="44805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90" b="0" i="0">
                <a:solidFill>
                  <a:srgbClr val="F0F4FB"/>
                </a:solidFill>
                <a:latin typeface="Noto Sans TC"/>
              </a:rPr>
              <a:t>第一層先避免漏掉太多 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767328"/>
            <a:ext cx="4864608" cy="841248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7705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F0F4FB"/>
                </a:solidFill>
                <a:latin typeface="Arial Bold"/>
              </a:rPr>
              <a:t>Quality_Score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87705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F0F4FB"/>
                </a:solidFill>
                <a:latin typeface="Noto Sans TC Bold"/>
              </a:rPr>
              <a:t>support annotation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9664"/>
            <a:ext cx="44805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90" b="0" i="0">
                <a:solidFill>
                  <a:srgbClr val="F0F4FB"/>
                </a:solidFill>
                <a:latin typeface="Noto Sans TC"/>
              </a:rPr>
              <a:t>在 TO 兩個資料集都不是負訊號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773168"/>
            <a:ext cx="4864608" cy="841248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8289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Arial Bold"/>
              </a:rPr>
              <a:t>PairwiseMedianDist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8289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17202A"/>
                </a:solidFill>
                <a:latin typeface="Noto Sans TC Bold"/>
              </a:rPr>
              <a:t>dataset-aware annotation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75504"/>
            <a:ext cx="44805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90" b="0" i="0">
                <a:solidFill>
                  <a:srgbClr val="17202A"/>
                </a:solidFill>
                <a:latin typeface="Noto Sans TC"/>
              </a:rPr>
              <a:t>方向依 dataset 而變，不可全域化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773168"/>
            <a:ext cx="4864608" cy="841248"/>
          </a:xfrm>
          <a:prstGeom prst="roundRect">
            <a:avLst/>
          </a:prstGeom>
          <a:solidFill>
            <a:srgbClr val="CB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8289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Arial Bold"/>
              </a:rPr>
              <a:t>hp_assign_rate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82896"/>
            <a:ext cx="21031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17202A"/>
                </a:solidFill>
                <a:latin typeface="Noto Sans TC Bold"/>
              </a:rPr>
              <a:t>phase / QC annotation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75504"/>
            <a:ext cx="44805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90" b="0" i="0">
                <a:solidFill>
                  <a:srgbClr val="17202A"/>
                </a:solidFill>
                <a:latin typeface="Noto Sans TC"/>
              </a:rPr>
              <a:t>反映相位完整度，不應直接拿來 truth keep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870448"/>
            <a:ext cx="106984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943600"/>
            <a:ext cx="1014984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0" i="0">
                <a:solidFill>
                  <a:srgbClr val="5E6572"/>
                </a:solidFill>
                <a:latin typeface="Noto Sans TC"/>
              </a:rPr>
              <a:t>現階段最合理的策略是：第一層盡量避免漏掉太多 TP，第二層避免帶回太多 FP，第三層負責驗證與可解釋性。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四象限可比性與解讀邊界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Comparability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5kHz 與 DORADO 的差異可用來做方向判讀，但 dataset-dependence 仍需保守解讀。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92224"/>
            <a:ext cx="5138928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08192" y="1792224"/>
            <a:ext cx="5138928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75104"/>
            <a:ext cx="30175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為什麼 5kHz / DORADO 會分化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22576"/>
            <a:ext cx="4407408" cy="1901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5kHz 初始 FP 較多（ClairS FP=1,430），甲基特徵更有機會顯現正增益</a:t>
            </a:r>
          </a:p>
          <a:p>
            <a:pPr algn="l">
              <a:spcAft>
                <a:spcPts val="4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DORADO baseline 已較乾淨（ClairS FP=588），規則帶來的增益縮小</a:t>
            </a:r>
          </a:p>
          <a:p>
            <a:pPr algn="l">
              <a:spcAft>
                <a:spcPts val="4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PairwiseMedianDist 在兩個 dataset 方向相反，顯示 dataset-dependence</a:t>
            </a:r>
          </a:p>
          <a:p>
            <a:pPr algn="l">
              <a:spcAft>
                <a:spcPts val="400"/>
              </a:spcAft>
            </a:pPr>
            <a:r>
              <a:rPr sz="1080">
                <a:solidFill>
                  <a:srgbClr val="17202A"/>
                </a:solidFill>
                <a:latin typeface="Noto Sans TC"/>
              </a:rPr>
              <a:t>可能的解釋：定序流程特異性 + noisy sample 對甲基特徵更敏感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4663440"/>
            <a:ext cx="4407408" cy="585216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846320"/>
            <a:ext cx="404164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1" i="0">
                <a:solidFill>
                  <a:srgbClr val="17202A"/>
                </a:solidFill>
                <a:latin typeface="Noto Sans TC"/>
              </a:rPr>
              <a:t>合理推論：noisy sample 對甲基特徵更敏感，但這還不是已證明因果。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975104"/>
            <a:ext cx="32004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 i="0">
                <a:solidFill>
                  <a:srgbClr val="17202A"/>
                </a:solidFill>
                <a:latin typeface="Noto Sans TC Bold"/>
              </a:rPr>
              <a:t>四象限比較時不能忘記的限制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22576"/>
            <a:ext cx="4407408" cy="21579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17202A"/>
                </a:solidFill>
                <a:latin typeface="Noto Sans TC"/>
              </a:rPr>
              <a:t>paired candidate-specific coverage 只有 8%~20%，TO 才到 71%~100%。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7202A"/>
                </a:solidFill>
                <a:latin typeface="Noto Sans TC"/>
              </a:rPr>
              <a:t>5kHz TO snapshot 來自 full tagged BAM；DORADO TO 來自 subset tagged BAM。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7202A"/>
                </a:solidFill>
                <a:latin typeface="Noto Sans TC"/>
              </a:rPr>
              <a:t>PairwiseMedianDist 在 5kHz TO 偏高、在 DORADO TO 偏低，因此只能做 dataset-aware support annotation。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17202A"/>
                </a:solidFill>
                <a:latin typeface="Noto Sans TC"/>
              </a:rPr>
              <a:t>甲基 rescue 在 paired 目前沒看到穩定正向，不代表 paired 一定沒有甲基價值。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4718304"/>
            <a:ext cx="4407408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40233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60" b="1" i="0">
                <a:solidFill>
                  <a:srgbClr val="F0F4FB"/>
                </a:solidFill>
                <a:latin typeface="Noto Sans TC"/>
              </a:rPr>
              <a:t>正確口徑：目前規則在 5kHz 有效，尚未穩定跨平台成立。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mixed sample 的目前位置：假說，不是定論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Mixed Sample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mixed sample 目前只能講到初步觀察與合理推論，正確策略是先把純樣本做完，再回來做校正驗證。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92224"/>
            <a:ext cx="3749039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93392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當前觀察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395728"/>
            <a:ext cx="3108960" cy="877824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651760"/>
            <a:ext cx="2779776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500" b="1" i="0">
                <a:solidFill>
                  <a:srgbClr val="17202A"/>
                </a:solidFill>
                <a:latin typeface="Noto Sans TC Bold"/>
              </a:rPr>
              <a:t>tumor &lt; normal &lt; mixed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44368"/>
            <a:ext cx="2779776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0" i="0">
                <a:solidFill>
                  <a:srgbClr val="5E6572"/>
                </a:solidFill>
                <a:latin typeface="Noto Sans TC"/>
              </a:rPr>
              <a:t>PairwiseMedianDist 中位數梯度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3749039"/>
            <a:ext cx="731520" cy="47548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95344"/>
            <a:ext cx="512064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19" b="1" i="0">
                <a:solidFill>
                  <a:srgbClr val="F0F4FB"/>
                </a:solidFill>
                <a:latin typeface="Arial Bold"/>
              </a:rPr>
              <a:t>Tumor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3392" y="3749039"/>
            <a:ext cx="731520" cy="475488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1" y="3895344"/>
            <a:ext cx="512064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19" b="1" i="0">
                <a:solidFill>
                  <a:srgbClr val="F0F4FB"/>
                </a:solidFill>
                <a:latin typeface="Arial Bold"/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2656" y="3749039"/>
            <a:ext cx="731520" cy="475488"/>
          </a:xfrm>
          <a:prstGeom prst="roundRect">
            <a:avLst/>
          </a:prstGeom>
          <a:solidFill>
            <a:srgbClr val="6D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3895344"/>
            <a:ext cx="512064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19" b="1" i="0">
                <a:solidFill>
                  <a:srgbClr val="17202A"/>
                </a:solidFill>
                <a:latin typeface="Arial Bold"/>
              </a:rPr>
              <a:t>Mixed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43984"/>
            <a:ext cx="26517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960" b="0" i="0">
                <a:solidFill>
                  <a:srgbClr val="5E6572"/>
                </a:solidFill>
                <a:latin typeface="Noto Sans TC"/>
              </a:rPr>
              <a:t>距離由小到大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1792224"/>
            <a:ext cx="320040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993392"/>
            <a:ext cx="1371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合理推論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2304288"/>
            <a:ext cx="2706624" cy="18836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tumor 可能因癌症趨同而甲基更相似（距離較小）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normal 原本有 haplotype 差異（距離中等）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mixed 的差異更大：組織來源（癌組織 vs 血液）差異可能超過 haplotype 效應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896" y="4590288"/>
            <a:ext cx="2706624" cy="530352"/>
          </a:xfrm>
          <a:prstGeom prst="round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4773168"/>
            <a:ext cx="2340864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1" i="0">
                <a:solidFill>
                  <a:srgbClr val="17202A"/>
                </a:solidFill>
                <a:latin typeface="Noto Sans TC"/>
              </a:rPr>
              <a:t>這條線現在還不是 closeout 結論。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792224"/>
            <a:ext cx="329184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1993392"/>
            <a:ext cx="15544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這頁要怎麼講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304288"/>
            <a:ext cx="2743200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17202A"/>
                </a:solidFill>
                <a:latin typeface="Noto Sans TC"/>
              </a:rPr>
              <a:t>這條線目前只到初步觀察，尚未完成全基因組與純樣本校正驗證。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17202A"/>
                </a:solidFill>
                <a:latin typeface="Noto Sans TC"/>
              </a:rPr>
              <a:t>策略：先完成純樣本分析，再回來分析 mixed 並加入適當校正與去噪。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17202A"/>
                </a:solidFill>
                <a:latin typeface="Noto Sans TC"/>
              </a:rPr>
              <a:t>在 deck 中應放在主線後段的一頁 hypothesis，不可拿來當主要證據頁。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F0F4FB"/>
                </a:solidFill>
                <a:latin typeface="Noto Sans TC Bold"/>
              </a:rPr>
              <a:t>下一步研究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6DAEE0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C5D5E8"/>
                </a:solidFill>
                <a:latin typeface="Noto Sans TC"/>
              </a:rPr>
              <a:t>研究主線已清楚：先純樣本、先 annotation，再決定是否有任何規則值得升級成核心流程。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10512"/>
            <a:ext cx="5212080" cy="4462272"/>
          </a:xfrm>
          <a:prstGeom prst="round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93392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17202A"/>
                </a:solidFill>
                <a:latin typeface="Noto Sans TC Bold"/>
              </a:rPr>
              <a:t>下一步要做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40864"/>
            <a:ext cx="4526280" cy="2834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繼續 brute-force caller + 甲基組合，累積 cross-dataset 比較矩陣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完成更多純樣本驗證（COLO829、H1437 等），補齊 big7_disk 路徑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把 Quality_Score、PairwiseMedianDist 接回 annotation / dashboard 輸出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混合樣本校正在純樣本驗證穩定後再做，不提前成為主線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10512"/>
            <a:ext cx="5212080" cy="4462272"/>
          </a:xfrm>
          <a:prstGeom prst="roundRect">
            <a:avLst/>
          </a:prstGeom>
          <a:solidFill>
            <a:srgbClr val="2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993392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F0F4FB"/>
                </a:solidFill>
                <a:latin typeface="Noto Sans TC Bold"/>
              </a:rPr>
              <a:t>現在不該做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40864"/>
            <a:ext cx="4526280" cy="2834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F0F4FB"/>
                </a:solidFill>
                <a:latin typeface="Noto Sans TC"/>
              </a:rPr>
              <a:t>不把 Quality 或 Pairwise 直接改成 hard keep 規則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0F4FB"/>
                </a:solidFill>
                <a:latin typeface="Noto Sans TC"/>
              </a:rPr>
              <a:t>不把 5kHz 單一 dataset 的特徵方向寫成跨樣本結論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0F4FB"/>
                </a:solidFill>
                <a:latin typeface="Noto Sans TC"/>
              </a:rPr>
              <a:t>不把 mixed sample 觀察提前成主要論點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F0F4FB"/>
                </a:solidFill>
                <a:latin typeface="Noto Sans TC"/>
              </a:rPr>
              <a:t>不混用 gq&gt;=10 與 qual&gt;=10 or gq&gt;=20 兩條不同規則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705856"/>
            <a:ext cx="10698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5815584"/>
            <a:ext cx="1014984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17202A"/>
                </a:solidFill>
                <a:latin typeface="Noto Sans TC Bold"/>
              </a:rPr>
              <a:t>原則：先把 annotation 解決可解釋性與追蹤性，再考慮是否值得改核心 hard keep / hard filter。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5D5E8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C5D5E8"/>
                </a:solidFill>
                <a:latin typeface="Arial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89611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 i="0">
                <a:solidFill>
                  <a:srgbClr val="17202A"/>
                </a:solidFill>
                <a:latin typeface="Noto Sans TC Bold"/>
              </a:rPr>
              <a:t>附錄與可複查路徑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2D5EA8"/>
                </a:solidFill>
                <a:latin typeface="Arial"/>
              </a:rPr>
              <a:t>Appendix and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33856"/>
            <a:ext cx="1060704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50" b="0" i="0">
                <a:solidFill>
                  <a:srgbClr val="5E6572"/>
                </a:solidFill>
                <a:latin typeface="Noto Sans TC"/>
              </a:rPr>
              <a:t>這份 draft deck 的來源報告、生成腳本、config、profile 與輸出資料夾都能直接回查。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92224"/>
            <a:ext cx="395020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82896" y="1792224"/>
            <a:ext cx="2999232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5008" y="1792224"/>
            <a:ext cx="320040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93392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核心文件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04288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2D5EA8"/>
                </a:solidFill>
                <a:latin typeface="Noto Sans TC Bold"/>
              </a:rPr>
              <a:t>主整合報告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34930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E6572"/>
                </a:solidFill>
                <a:latin typeface="Arial"/>
              </a:rPr>
              <a:t>/.../validated/2026/03/20260312_AI自動化F1研究主線與PPT藍圖整合報告_01.md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43200"/>
            <a:ext cx="34930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1" i="0">
                <a:solidFill>
                  <a:srgbClr val="17202A"/>
                </a:solidFill>
                <a:latin typeface="Noto Sans TC"/>
              </a:rPr>
              <a:t>20260312_AI自動化F1研究主線與PPT藍圖整合報告_01.md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346704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2D5EA8"/>
                </a:solidFill>
                <a:latin typeface="Noto Sans TC Bold"/>
              </a:rPr>
              <a:t>研究主線週報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529584"/>
            <a:ext cx="34930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E6572"/>
                </a:solidFill>
                <a:latin typeface="Arial"/>
              </a:rPr>
              <a:t>/.../validated/2026/03/20260311_研究主線週報_20260305_20260311_phase2_annotation整合_01.md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785616"/>
            <a:ext cx="34930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1" i="0">
                <a:solidFill>
                  <a:srgbClr val="17202A"/>
                </a:solidFill>
                <a:latin typeface="Noto Sans TC"/>
              </a:rPr>
              <a:t>20260311_研究主線週報_20260305_20260311_phase2_annotation整合_01.md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389120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2D5EA8"/>
                </a:solidFill>
                <a:latin typeface="Noto Sans TC Bold"/>
              </a:rPr>
              <a:t>Pool B FN closeout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72000"/>
            <a:ext cx="34930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E6572"/>
                </a:solidFill>
                <a:latin typeface="Arial"/>
              </a:rPr>
              <a:t>/.../validated/2026/03/20260312_PoolB_FN_integration_closeout_01.md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828031"/>
            <a:ext cx="34930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1" i="0">
                <a:solidFill>
                  <a:srgbClr val="17202A"/>
                </a:solidFill>
                <a:latin typeface="Noto Sans TC"/>
              </a:rPr>
              <a:t>20260312_PoolB_FN_integration_closeout_01.md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993392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設定與資料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304288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 Bold"/>
              </a:rPr>
              <a:t>四象限甲基 rescue 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487168"/>
            <a:ext cx="24688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E6572"/>
                </a:solidFill>
                <a:latin typeface="Arial"/>
              </a:rPr>
              <a:t>/.../validated/2026/03/20260311_HCC1395_四象限甲基rescue整合報告_01.md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743200"/>
            <a:ext cx="24688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1" i="0">
                <a:solidFill>
                  <a:srgbClr val="17202A"/>
                </a:solidFill>
                <a:latin typeface="Noto Sans TC"/>
              </a:rPr>
              <a:t>20260311_HCC1395_四象限甲基rescue整合報告_01.md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493008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 Bold"/>
              </a:rPr>
              <a:t>PPT profile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675888"/>
            <a:ext cx="24688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E6572"/>
                </a:solidFill>
                <a:latin typeface="Arial"/>
              </a:rPr>
              <a:t>/.../references/manual/assets/20260311_liao_research_ppt_profile_01.json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3931920"/>
            <a:ext cx="24688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1" i="0">
                <a:solidFill>
                  <a:srgbClr val="17202A"/>
                </a:solidFill>
                <a:latin typeface="Noto Sans TC"/>
              </a:rPr>
              <a:t>20260311_liao_research_ppt_profile_01.json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681728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2D5EA8"/>
                </a:solidFill>
                <a:latin typeface="Noto Sans TC Bold"/>
              </a:rPr>
              <a:t>PPTX config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4864608"/>
            <a:ext cx="24688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E6572"/>
                </a:solidFill>
                <a:latin typeface="Arial"/>
              </a:rPr>
              <a:t>/.../references/manual/assets/20260312_ai_f1_research_pptx_config_01.json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5120640"/>
            <a:ext cx="24688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1" i="0">
                <a:solidFill>
                  <a:srgbClr val="17202A"/>
                </a:solidFill>
                <a:latin typeface="Noto Sans TC"/>
              </a:rPr>
              <a:t>20260312_ai_f1_research_pptx_config_01.json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1993392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20" b="1" i="0">
                <a:solidFill>
                  <a:srgbClr val="17202A"/>
                </a:solidFill>
                <a:latin typeface="Noto Sans TC Bold"/>
              </a:rPr>
              <a:t>版本與重生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2304288"/>
            <a:ext cx="9144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2D5EA8"/>
                </a:solidFill>
                <a:latin typeface="Arial"/>
              </a:rPr>
              <a:t>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505456"/>
            <a:ext cx="2670048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E6572"/>
                </a:solidFill>
                <a:latin typeface="Arial"/>
              </a:rPr>
              <a:t>20260312_AI自動化F1研究主線與PPT藍圖整合報告_01.pptx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054096"/>
            <a:ext cx="12801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2D5EA8"/>
                </a:solidFill>
                <a:latin typeface="Arial"/>
              </a:rPr>
              <a:t>Version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255264"/>
            <a:ext cx="2670048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E6572"/>
                </a:solidFill>
                <a:latin typeface="Arial"/>
              </a:rPr>
              <a:t>20260312_AI自動化F1研究主線與PPT藍圖整合報告_01.version.json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3840480"/>
            <a:ext cx="9144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2D5EA8"/>
                </a:solidFill>
                <a:latin typeface="Arial"/>
              </a:rPr>
              <a:t>Rerun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4059936"/>
            <a:ext cx="2633472" cy="115214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8" y="4206240"/>
            <a:ext cx="2286000" cy="8778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50" b="0" i="0">
                <a:solidFill>
                  <a:srgbClr val="F0F4FB"/>
                </a:solidFill>
                <a:latin typeface="Arial"/>
              </a:rPr>
              <a:t>python build_ai_f1_research_pptx.py
--config 20260312_ai_f1_research_pptx_config_01.json
--profile 20260311_liao_research_ppt_profile_01.json
--output-pptx 20260312_AI自動化F1研究主線與PPT藍圖整合報告_01.pptx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5413248"/>
            <a:ext cx="267004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E6572"/>
                </a:solidFill>
                <a:latin typeface="Noto Sans TC"/>
              </a:rPr>
              <a:t>完整絕對路徑與完整指令已保留在 notes / version.json。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5632704"/>
            <a:ext cx="2670048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0" i="0">
                <a:solidFill>
                  <a:srgbClr val="17202A"/>
                </a:solidFill>
                <a:latin typeface="Noto Sans TC"/>
              </a:rPr>
              <a:t>狀態：validated · 版本：v01 · notes：embedded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6422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7202A"/>
                </a:solidFill>
                <a:latin typeface="Arial"/>
              </a:rPr>
              <a:t>InterSubMod AI F1 Validation · 2026-03-12 · 廖子游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7936" y="63459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60" b="0" i="0">
                <a:solidFill>
                  <a:srgbClr val="17202A"/>
                </a:solidFill>
                <a:latin typeface="Arial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/ Agent 自動化推進 InterSubMod F1-score 驗證</dc:title>
  <dc:subject/>
  <dc:creator>廖子游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