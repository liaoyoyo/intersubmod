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38160" y="0"/>
            <a:ext cx="4053535" cy="6858000"/>
          </a:xfrm>
          <a:prstGeom prst="rect">
            <a:avLst/>
          </a:prstGeom>
          <a:solidFill>
            <a:srgbClr val="C76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594360"/>
            <a:ext cx="1325880" cy="320040"/>
          </a:xfrm>
          <a:prstGeom prst="roundRect">
            <a:avLst/>
          </a:prstGeom>
          <a:solidFill>
            <a:srgbClr val="6E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8952" y="658368"/>
            <a:ext cx="2286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8F4EE"/>
                </a:solidFill>
                <a:latin typeface="Calibri"/>
              </a:rPr>
              <a:t>InterSubMod 研究週報簡報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7498079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F8F4EE"/>
                </a:solidFill>
                <a:latin typeface="Georgia"/>
              </a:rPr>
              <a:t>InterSubMod 研究主線整合週報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2542032"/>
            <a:ext cx="6675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D6DCE5"/>
                </a:solidFill>
                <a:latin typeface="Calibri"/>
              </a:rPr>
              <a:t>2026-03-05 至 2026-03-11，含 phase 2 與 annotation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3246120"/>
            <a:ext cx="65379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8F4EE"/>
                </a:solidFill>
                <a:latin typeface="Calibri"/>
              </a:rPr>
              <a:t>主結論已收斂為：caller-first、methylation-support、annotation / QC / artifact triage 三層分工。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5230368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D6DCE5"/>
                </a:solidFill>
                <a:latin typeface="Consolas"/>
              </a:rPr>
              <a:t>來源週報：20260311_研究主線週報_20260305_20260311_phase2_annotation整合_01.md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66760" y="1417320"/>
            <a:ext cx="3063240" cy="3246120"/>
          </a:xfrm>
          <a:prstGeom prst="roundRect">
            <a:avLst/>
          </a:prstGeom>
          <a:solidFill>
            <a:srgbClr val="F6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41080" y="1682496"/>
            <a:ext cx="10972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7202A"/>
                </a:solidFill>
                <a:latin typeface="Calibri"/>
              </a:rPr>
              <a:t>本頁導讀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2029968"/>
            <a:ext cx="2468880" cy="1554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150">
                <a:solidFill>
                  <a:srgbClr val="17202A"/>
                </a:solidFill>
                <a:latin typeface="Calibri"/>
              </a:rPr>
              <a:t>四象限資料：5kHz / DORADO × paired / TO</a:t>
            </a:r>
          </a:p>
          <a:p>
            <a:pPr algn="l">
              <a:spcAft>
                <a:spcPts val="600"/>
              </a:spcAft>
            </a:pPr>
            <a:r>
              <a:rPr sz="1150">
                <a:solidFill>
                  <a:srgbClr val="17202A"/>
                </a:solidFill>
                <a:latin typeface="Calibri"/>
              </a:rPr>
              <a:t>phase 2：paired raw pileup/full 對照已完成</a:t>
            </a:r>
          </a:p>
          <a:p>
            <a:pPr algn="l">
              <a:spcAft>
                <a:spcPts val="600"/>
              </a:spcAft>
            </a:pPr>
            <a:r>
              <a:rPr sz="1150">
                <a:solidFill>
                  <a:srgbClr val="17202A"/>
                </a:solidFill>
                <a:latin typeface="Calibri"/>
              </a:rPr>
              <a:t>annotation layer 已正式接回分析輸出層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13648" y="3822191"/>
            <a:ext cx="256032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80" b="0" i="0">
                <a:solidFill>
                  <a:srgbClr val="5E6572"/>
                </a:solidFill>
                <a:latin typeface="Calibri"/>
              </a:rPr>
              <a:t>報告整理時間：2026-03-11
輸出模式：研究內部混合版
報告人：廖子游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19963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D6DCE5"/>
                </a:solidFill>
                <a:latin typeface="Calibri"/>
              </a:rPr>
              <a:t>Generated from the validated weekly report and phase 2 / annotation outputs.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1722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D6DCE5"/>
                </a:solidFill>
                <a:latin typeface="Calibri"/>
              </a:rPr>
              <a:t>1/12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7202A"/>
                </a:solidFill>
                <a:latin typeface="Georgia"/>
              </a:rPr>
              <a:t>本週重點結論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E6572"/>
                </a:solidFill>
                <a:latin typeface="Calibri"/>
              </a:rPr>
              <a:t>先看四條證據鏈，快速掌握可直接沿用的研究口徑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83080"/>
            <a:ext cx="5074920" cy="1901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6112" y="1965960"/>
            <a:ext cx="438912" cy="438912"/>
          </a:xfrm>
          <a:prstGeom prst="roundRect">
            <a:avLst/>
          </a:prstGeom>
          <a:solidFill>
            <a:srgbClr val="C76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1947672"/>
            <a:ext cx="4023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7202A"/>
                </a:solidFill>
                <a:latin typeface="Calibri"/>
              </a:rPr>
              <a:t>paired pure 已完成正式定稿級 rerun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478024"/>
            <a:ext cx="461772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F5B67"/>
                </a:solidFill>
                <a:latin typeface="Calibri"/>
              </a:rPr>
              <a:t>HCC1395 5kHz paired 上，InterSubMod F1 由 LongPhase-S 0.8522 小幅推到 0.8532；增益主要來自額外移除 83 個 FP，而不是大量救回 TP。DORADO paired 則幾乎持平略負，證明 5kHz 的確是較 noisy 的主實驗樣本。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783080"/>
            <a:ext cx="5074920" cy="1901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19672" y="1965960"/>
            <a:ext cx="438912" cy="438912"/>
          </a:xfrm>
          <a:prstGeom prst="roundRect">
            <a:avLst/>
          </a:prstGeom>
          <a:solidFill>
            <a:srgbClr val="6E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86600" y="1947672"/>
            <a:ext cx="4023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7202A"/>
                </a:solidFill>
                <a:latin typeface="Calibri"/>
              </a:rPr>
              <a:t>TO candidate-specific rescue 已正式成立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9672" y="2478024"/>
            <a:ext cx="461772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F5B67"/>
                </a:solidFill>
                <a:latin typeface="Calibri"/>
              </a:rPr>
              <a:t>HCC1395 5kHz TO 與 HCC1395 DORADO TO 都支持相同高層結論：caller-first 穩定成立；甲基特徵不是全負效果，但在同一 caller gate 後仍只作 support。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50208"/>
            <a:ext cx="5074920" cy="1901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96112" y="4133088"/>
            <a:ext cx="438912" cy="438912"/>
          </a:xfrm>
          <a:prstGeom prst="roundRect">
            <a:avLst/>
          </a:prstGeom>
          <a:solidFill>
            <a:srgbClr val="7B5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63040" y="4114800"/>
            <a:ext cx="4023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7202A"/>
                </a:solidFill>
                <a:latin typeface="Calibri"/>
              </a:rPr>
              <a:t>phase 2 已排除 raw paired 直上最終輸出的方向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4645152"/>
            <a:ext cx="461772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F5B67"/>
                </a:solidFill>
                <a:latin typeface="Calibri"/>
              </a:rPr>
              <a:t>paired raw pileup / full model 確實有更多召回，但 precision 成本太高。paired 場景目前仍應以 merged caller + LongPhase + InterSubMod 作為正式口徑。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3950208"/>
            <a:ext cx="5074920" cy="1901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19672" y="4133088"/>
            <a:ext cx="438912" cy="438912"/>
          </a:xfrm>
          <a:prstGeom prst="roundRect">
            <a:avLst/>
          </a:prstGeom>
          <a:solidFill>
            <a:srgbClr val="547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86600" y="4114800"/>
            <a:ext cx="4023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7202A"/>
                </a:solidFill>
                <a:latin typeface="Calibri"/>
              </a:rPr>
              <a:t>annotation layer 已可制度化輸出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9672" y="4645152"/>
            <a:ext cx="461772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F5B67"/>
                </a:solidFill>
                <a:latin typeface="Calibri"/>
              </a:rPr>
              <a:t>Quality_Score 適合升級成 support annotation，PairwiseMedianDist 適合升級成 dataset-aware support annotation，hp_assign_rate 應降階為 phase/QC annotation。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19963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4B5563"/>
                </a:solidFill>
                <a:latin typeface="Calibri"/>
              </a:rPr>
              <a:t>Generated from the validated weekly report and phase 2 / annotation outputs.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1722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4B5563"/>
                </a:solidFill>
                <a:latin typeface="Calibri"/>
              </a:rPr>
              <a:t>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6D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7202A"/>
                </a:solidFill>
                <a:latin typeface="Georgia"/>
              </a:rPr>
              <a:t>背景、問題與四象限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E6572"/>
                </a:solidFill>
                <a:latin typeface="Calibri"/>
              </a:rPr>
              <a:t>這一週的所有結果都用同一套三層框架與四象限資料集解讀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3383280" cy="44074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938528"/>
            <a:ext cx="1645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7202A"/>
                </a:solidFill>
                <a:latin typeface="Calibri"/>
              </a:rPr>
              <a:t>三層分工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377440"/>
            <a:ext cx="2971800" cy="822960"/>
          </a:xfrm>
          <a:prstGeom prst="round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2450592"/>
            <a:ext cx="2560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80" b="1" i="0">
                <a:solidFill>
                  <a:srgbClr val="F8F4EE"/>
                </a:solidFill>
                <a:latin typeface="Calibri"/>
              </a:rPr>
              <a:t>第一層：caller-first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2688336"/>
            <a:ext cx="2578608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D6DCE5"/>
                </a:solidFill>
                <a:latin typeface="Calibri"/>
              </a:rPr>
              <a:t>先用 GQ / QUAL / candidate-eligible 定義可救回的邊緣集合。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456432"/>
            <a:ext cx="2971800" cy="822960"/>
          </a:xfrm>
          <a:prstGeom prst="roundRect">
            <a:avLst/>
          </a:prstGeom>
          <a:solidFill>
            <a:srgbClr val="EA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3529584"/>
            <a:ext cx="2560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80" b="1" i="0">
                <a:solidFill>
                  <a:srgbClr val="17202A"/>
                </a:solidFill>
                <a:latin typeface="Calibri"/>
              </a:rPr>
              <a:t>第二層：methylation-support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3767328"/>
            <a:ext cx="2578608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E6572"/>
                </a:solidFill>
                <a:latin typeface="Calibri"/>
              </a:rPr>
              <a:t>用 Quality、Pairwise、agreement 等甲基與標籤訊號補強排序。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535424"/>
            <a:ext cx="2971800" cy="822960"/>
          </a:xfrm>
          <a:prstGeom prst="roundRect">
            <a:avLst/>
          </a:prstGeom>
          <a:solidFill>
            <a:srgbClr val="D6E7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4608576"/>
            <a:ext cx="2560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80" b="1" i="0">
                <a:solidFill>
                  <a:srgbClr val="17202A"/>
                </a:solidFill>
                <a:latin typeface="Calibri"/>
              </a:rPr>
              <a:t>第三層：annotation / QC / artifact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4846320"/>
            <a:ext cx="2578608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E6572"/>
                </a:solidFill>
                <a:latin typeface="Calibri"/>
              </a:rPr>
              <a:t>把 dataset-aware support、phase completeness 與 artifact triage 制度化輸出。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669280"/>
            <a:ext cx="2880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19" b="0" i="0">
                <a:solidFill>
                  <a:srgbClr val="4F5B67"/>
                </a:solidFill>
                <a:latin typeface="Calibri"/>
              </a:rPr>
              <a:t>核心問題：哪些 caller 邊緣位點值得救回、哪些位點更像 artifact 或 dataset-specific 偏差。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1737360"/>
            <a:ext cx="7040880" cy="44074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1938528"/>
            <a:ext cx="25603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7202A"/>
                </a:solidFill>
                <a:latin typeface="Calibri"/>
              </a:rPr>
              <a:t>資料四象限與可比性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17720" y="2395728"/>
            <a:ext cx="3017520" cy="1353312"/>
          </a:xfrm>
          <a:prstGeom prst="roundRect">
            <a:avLst/>
          </a:prstGeom>
          <a:solidFill>
            <a:srgbClr val="F4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64024" y="2505456"/>
            <a:ext cx="25603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7202A"/>
                </a:solidFill>
                <a:latin typeface="Calibri"/>
              </a:rPr>
              <a:t>HCC1395 5kHz paired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64024" y="2779776"/>
            <a:ext cx="2697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E6572"/>
                </a:solidFill>
                <a:latin typeface="Calibri"/>
              </a:rPr>
              <a:t>第一主實驗。最 noisy，但 paired 條件最完整，適合做規則壓力測試。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18120" y="2395728"/>
            <a:ext cx="3017520" cy="1353312"/>
          </a:xfrm>
          <a:prstGeom prst="roundRect">
            <a:avLst/>
          </a:prstGeom>
          <a:solidFill>
            <a:srgbClr val="DDE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64424" y="2505456"/>
            <a:ext cx="25603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7202A"/>
                </a:solidFill>
                <a:latin typeface="Calibri"/>
              </a:rPr>
              <a:t>HCC1395 DORADO paired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64424" y="2779776"/>
            <a:ext cx="2697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E6572"/>
                </a:solidFill>
                <a:latin typeface="Calibri"/>
              </a:rPr>
              <a:t>第一交叉驗證。用同樣本不同平台檢查規則可攜性。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17720" y="4096512"/>
            <a:ext cx="3017520" cy="1353312"/>
          </a:xfrm>
          <a:prstGeom prst="roundRect">
            <a:avLst/>
          </a:prstGeom>
          <a:solidFill>
            <a:srgbClr val="F4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64024" y="4206240"/>
            <a:ext cx="25603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7202A"/>
                </a:solidFill>
                <a:latin typeface="Calibri"/>
              </a:rPr>
              <a:t>HCC1395 5kHz 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64024" y="4480560"/>
            <a:ext cx="2697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E6572"/>
                </a:solidFill>
                <a:latin typeface="Calibri"/>
              </a:rPr>
              <a:t>最能看見 methylation-support 的 TO 場景，目前 support 成立但仍低於最佳 caller-only。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18120" y="4096512"/>
            <a:ext cx="3017520" cy="1353312"/>
          </a:xfrm>
          <a:prstGeom prst="roundRect">
            <a:avLst/>
          </a:prstGeom>
          <a:solidFill>
            <a:srgbClr val="DDE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64424" y="4206240"/>
            <a:ext cx="25603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7202A"/>
                </a:solidFill>
                <a:latin typeface="Calibri"/>
              </a:rPr>
              <a:t>HCC1395 DORADO 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64424" y="4480560"/>
            <a:ext cx="2697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E6572"/>
                </a:solidFill>
                <a:latin typeface="Calibri"/>
              </a:rPr>
              <a:t>TO 跨平台驗證已補齊。高層結論與 5kHz TO 一致，但 Pairwise 方向不同。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7720" y="5504688"/>
            <a:ext cx="6355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10" b="0" i="0">
                <a:solidFill>
                  <a:srgbClr val="4F5B67"/>
                </a:solidFill>
                <a:latin typeface="Calibri"/>
              </a:rPr>
              <a:t>注意：5kHz TO 的 snapshot 來自 full tagged BAM；DORADO TO 目前是 candidate-window subset tagged BAM，因此 read-level 圖只能做方向比較，不能做跨 dataset 絕對值硬比。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619963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4B5563"/>
                </a:solidFill>
                <a:latin typeface="Calibri"/>
              </a:rPr>
              <a:t>Generated from the validated weekly report and phase 2 / annotation outputs.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1722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4B5563"/>
                </a:solidFill>
                <a:latin typeface="Calibri"/>
              </a:rPr>
              <a:t>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7202A"/>
                </a:solidFill>
                <a:latin typeface="Georgia"/>
              </a:rPr>
              <a:t>主要目標與完成度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E6572"/>
                </a:solidFill>
                <a:latin typeface="Calibri"/>
              </a:rPr>
              <a:t>這一週的主線任務已從實驗探索推進到制度化與 annotation 層落地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664208"/>
          <a:ext cx="10972798" cy="36118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1473"/>
                <a:gridCol w="2661718"/>
                <a:gridCol w="977774"/>
                <a:gridCol w="5051833"/>
              </a:tblGrid>
              <a:tr h="515982">
                <a:tc>
                  <a:txBody>
                    <a:bodyPr/>
                    <a:lstStyle/>
                    <a:p>
                      <a:pPr algn="l"/>
                      <a:r>
                        <a:rPr sz="960" b="1">
                          <a:solidFill>
                            <a:srgbClr val="F8F4EE"/>
                          </a:solidFill>
                          <a:latin typeface="Calibri"/>
                        </a:rPr>
                        <a:t>主目標</a:t>
                      </a:r>
                    </a:p>
                  </a:txBody>
                  <a:tcPr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 b="1">
                          <a:solidFill>
                            <a:srgbClr val="F8F4EE"/>
                          </a:solidFill>
                          <a:latin typeface="Calibri"/>
                        </a:rPr>
                        <a:t>子目標</a:t>
                      </a:r>
                    </a:p>
                  </a:txBody>
                  <a:tcPr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 b="1">
                          <a:solidFill>
                            <a:srgbClr val="F8F4EE"/>
                          </a:solidFill>
                          <a:latin typeface="Calibri"/>
                        </a:rPr>
                        <a:t>完成度</a:t>
                      </a:r>
                    </a:p>
                  </a:txBody>
                  <a:tcPr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 b="1">
                          <a:solidFill>
                            <a:srgbClr val="F8F4EE"/>
                          </a:solidFill>
                          <a:latin typeface="Calibri"/>
                        </a:rPr>
                        <a:t>本週結論</a:t>
                      </a:r>
                    </a:p>
                  </a:txBody>
                  <a:tcPr>
                    <a:solidFill>
                      <a:srgbClr val="1E2A44"/>
                    </a:solidFill>
                  </a:tcPr>
                </a:tc>
              </a:tr>
              <a:tr h="515982">
                <a:tc>
                  <a:txBody>
                    <a:bodyPr/>
                    <a:lstStyle/>
                    <a:p>
                      <a:pPr algn="l"/>
                      <a:r>
                        <a:rPr sz="960">
                          <a:solidFill>
                            <a:srgbClr val="17202A"/>
                          </a:solidFill>
                          <a:latin typeface="Calibri"/>
                        </a:rPr>
                        <a:t>paired pure 正式重跑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>
                          <a:solidFill>
                            <a:srgbClr val="17202A"/>
                          </a:solidFill>
                          <a:latin typeface="Calibri"/>
                        </a:rPr>
                        <a:t>5kHz / DORADO 新版欄位 rerun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>
                          <a:solidFill>
                            <a:srgbClr val="17202A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>
                          <a:solidFill>
                            <a:srgbClr val="17202A"/>
                          </a:solidFill>
                          <a:latin typeface="Calibri"/>
                        </a:rPr>
                        <a:t>5kHz 有正增益；DORADO 幾乎持平略負。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5982">
                <a:tc>
                  <a:txBody>
                    <a:bodyPr/>
                    <a:lstStyle/>
                    <a:p>
                      <a:pPr algn="l"/>
                      <a:r>
                        <a:rPr sz="960">
                          <a:solidFill>
                            <a:srgbClr val="17202A"/>
                          </a:solidFill>
                          <a:latin typeface="Calibri"/>
                        </a:rPr>
                        <a:t>TO 主流程打通</a:t>
                      </a:r>
                    </a:p>
                  </a:txBody>
                  <a:tcPr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>
                          <a:solidFill>
                            <a:srgbClr val="17202A"/>
                          </a:solidFill>
                          <a:latin typeface="Calibri"/>
                        </a:rPr>
                        <a:t>ClairS-TO → LongPhase-TO → InterSubMod</a:t>
                      </a:r>
                    </a:p>
                  </a:txBody>
                  <a:tcPr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>
                          <a:solidFill>
                            <a:srgbClr val="17202A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>
                          <a:solidFill>
                            <a:srgbClr val="17202A"/>
                          </a:solidFill>
                          <a:latin typeface="Calibri"/>
                        </a:rPr>
                        <a:t>5kHz TO pilot 已可重跑，LongPhase-TO phase 不改變 call set，本輪增益主要來自後段甲基過濾。</a:t>
                      </a:r>
                    </a:p>
                  </a:txBody>
                  <a:tcPr>
                    <a:solidFill>
                      <a:srgbClr val="F4F0E8"/>
                    </a:solidFill>
                  </a:tcPr>
                </a:tc>
              </a:tr>
              <a:tr h="515982">
                <a:tc>
                  <a:txBody>
                    <a:bodyPr/>
                    <a:lstStyle/>
                    <a:p>
                      <a:pPr algn="l"/>
                      <a:r>
                        <a:rPr sz="960">
                          <a:solidFill>
                            <a:srgbClr val="17202A"/>
                          </a:solidFill>
                          <a:latin typeface="Calibri"/>
                        </a:rPr>
                        <a:t>candidate-specific rescue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>
                          <a:solidFill>
                            <a:srgbClr val="17202A"/>
                          </a:solidFill>
                          <a:latin typeface="Calibri"/>
                        </a:rPr>
                        <a:t>5kHz TO、DORADO paired、DORADO 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>
                          <a:solidFill>
                            <a:srgbClr val="17202A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>
                          <a:solidFill>
                            <a:srgbClr val="17202A"/>
                          </a:solidFill>
                          <a:latin typeface="Calibri"/>
                        </a:rPr>
                        <a:t>TO 下甲基 support 成立，但沒有穩定超過最佳 caller-only。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5982">
                <a:tc>
                  <a:txBody>
                    <a:bodyPr/>
                    <a:lstStyle/>
                    <a:p>
                      <a:pPr algn="l"/>
                      <a:r>
                        <a:rPr sz="960">
                          <a:solidFill>
                            <a:srgbClr val="17202A"/>
                          </a:solidFill>
                          <a:latin typeface="Calibri"/>
                        </a:rPr>
                        <a:t>phase 2 benchmark / feature</a:t>
                      </a:r>
                    </a:p>
                  </a:txBody>
                  <a:tcPr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>
                          <a:solidFill>
                            <a:srgbClr val="17202A"/>
                          </a:solidFill>
                          <a:latin typeface="Calibri"/>
                        </a:rPr>
                        <a:t>raw pileup/full、finer interval、orthogonality</a:t>
                      </a:r>
                    </a:p>
                  </a:txBody>
                  <a:tcPr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>
                          <a:solidFill>
                            <a:srgbClr val="17202A"/>
                          </a:solidFill>
                          <a:latin typeface="Calibri"/>
                        </a:rPr>
                        <a:t>90%</a:t>
                      </a:r>
                    </a:p>
                  </a:txBody>
                  <a:tcPr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>
                          <a:solidFill>
                            <a:srgbClr val="17202A"/>
                          </a:solidFill>
                          <a:latin typeface="Calibri"/>
                        </a:rPr>
                        <a:t>paired raw 不適合直接取代 merged caller；TO 的 pileup vs full model 尚未補齊，Pairwise 明顯 dataset-dependent。</a:t>
                      </a:r>
                    </a:p>
                  </a:txBody>
                  <a:tcPr>
                    <a:solidFill>
                      <a:srgbClr val="F4F0E8"/>
                    </a:solidFill>
                  </a:tcPr>
                </a:tc>
              </a:tr>
              <a:tr h="515982">
                <a:tc>
                  <a:txBody>
                    <a:bodyPr/>
                    <a:lstStyle/>
                    <a:p>
                      <a:pPr algn="l"/>
                      <a:r>
                        <a:rPr sz="960">
                          <a:solidFill>
                            <a:srgbClr val="17202A"/>
                          </a:solidFill>
                          <a:latin typeface="Calibri"/>
                        </a:rPr>
                        <a:t>annotation layer 回接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>
                          <a:solidFill>
                            <a:srgbClr val="17202A"/>
                          </a:solidFill>
                          <a:latin typeface="Calibri"/>
                        </a:rPr>
                        <a:t>把 phase 2 結果制度化輸出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>
                          <a:solidFill>
                            <a:srgbClr val="17202A"/>
                          </a:solidFill>
                          <a:latin typeface="Calibri"/>
                        </a:rPr>
                        <a:t>90%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>
                          <a:solidFill>
                            <a:srgbClr val="17202A"/>
                          </a:solidFill>
                          <a:latin typeface="Calibri"/>
                        </a:rPr>
                        <a:t>Quality / Pairwise 可升級成 annotation；hp_assign 降為 QC，但尚未接入 dashboard / round summary。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5982">
                <a:tc>
                  <a:txBody>
                    <a:bodyPr/>
                    <a:lstStyle/>
                    <a:p>
                      <a:pPr algn="l"/>
                      <a:r>
                        <a:rPr sz="960">
                          <a:solidFill>
                            <a:srgbClr val="17202A"/>
                          </a:solidFill>
                          <a:latin typeface="Calibri"/>
                        </a:rPr>
                        <a:t>文件與流程制度化</a:t>
                      </a:r>
                    </a:p>
                  </a:txBody>
                  <a:tcPr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>
                          <a:solidFill>
                            <a:srgbClr val="17202A"/>
                          </a:solidFill>
                          <a:latin typeface="Calibri"/>
                        </a:rPr>
                        <a:t>週報、Agent、Skills、PPTX 工作流</a:t>
                      </a:r>
                    </a:p>
                  </a:txBody>
                  <a:tcPr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>
                          <a:solidFill>
                            <a:srgbClr val="17202A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>
                          <a:solidFill>
                            <a:srgbClr val="17202A"/>
                          </a:solidFill>
                          <a:latin typeface="Calibri"/>
                        </a:rPr>
                        <a:t>週報與簡報已可重複生成。</a:t>
                      </a:r>
                    </a:p>
                  </a:txBody>
                  <a:tcPr>
                    <a:solidFill>
                      <a:srgbClr val="F4F0E8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5440680"/>
            <a:ext cx="3246120" cy="640080"/>
          </a:xfrm>
          <a:prstGeom prst="round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5513832"/>
            <a:ext cx="27432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F8F4EE"/>
                </a:solidFill>
                <a:latin typeface="Calibri"/>
              </a:rPr>
              <a:t>研究方向已收斂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705856"/>
            <a:ext cx="2743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90" b="0" i="0">
                <a:solidFill>
                  <a:srgbClr val="D6DCE5"/>
                </a:solidFill>
                <a:latin typeface="Calibri"/>
              </a:rPr>
              <a:t>從大量試規則，推進到明確分層與制度化輸出。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5440680"/>
            <a:ext cx="3246120" cy="640080"/>
          </a:xfrm>
          <a:prstGeom prst="roundRect">
            <a:avLst/>
          </a:prstGeom>
          <a:solidFill>
            <a:srgbClr val="C76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5513832"/>
            <a:ext cx="27432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F8F4EE"/>
                </a:solidFill>
                <a:latin typeface="Calibri"/>
              </a:rPr>
              <a:t>跨平台驗證已具雛形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5705856"/>
            <a:ext cx="2743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90" b="0" i="0">
                <a:solidFill>
                  <a:srgbClr val="F8F4EE"/>
                </a:solidFill>
                <a:latin typeface="Calibri"/>
              </a:rPr>
              <a:t>5kHz 與 DORADO 已形成 paired / TO 對照矩陣。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5440680"/>
            <a:ext cx="3246120" cy="640080"/>
          </a:xfrm>
          <a:prstGeom prst="roundRect">
            <a:avLst/>
          </a:prstGeom>
          <a:solidFill>
            <a:srgbClr val="6E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92440" y="5513832"/>
            <a:ext cx="27432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F8F4EE"/>
                </a:solidFill>
                <a:latin typeface="Calibri"/>
              </a:rPr>
              <a:t>下一步應先做 annotation 輸出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5705856"/>
            <a:ext cx="2743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90" b="0" i="0">
                <a:solidFill>
                  <a:srgbClr val="F8F4EE"/>
                </a:solidFill>
                <a:latin typeface="Calibri"/>
              </a:rPr>
              <a:t>現階段先接報告、排序與診斷層，不急著改核心 hard rule。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19963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4B5563"/>
                </a:solidFill>
                <a:latin typeface="Calibri"/>
              </a:rPr>
              <a:t>Generated from the validated weekly report and phase 2 / annotation outputs.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1722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4B5563"/>
                </a:solidFill>
                <a:latin typeface="Calibri"/>
              </a:rPr>
              <a:t>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7202A"/>
                </a:solidFill>
                <a:latin typeface="Georgia"/>
              </a:rPr>
              <a:t>研究推進時間軸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E6572"/>
                </a:solidFill>
                <a:latin typeface="Calibri"/>
              </a:rPr>
              <a:t>依日期整理本週主線進展與收斂節點</a:t>
            </a:r>
          </a:p>
        </p:txBody>
      </p:sp>
      <p:sp>
        <p:nvSpPr>
          <p:cNvPr id="4" name="Rectangle 3"/>
          <p:cNvSpPr/>
          <p:nvPr/>
        </p:nvSpPr>
        <p:spPr>
          <a:xfrm>
            <a:off x="1143000" y="4526280"/>
            <a:ext cx="9464040" cy="73152"/>
          </a:xfrm>
          <a:prstGeom prst="rect">
            <a:avLst/>
          </a:prstGeom>
          <a:solidFill>
            <a:srgbClr val="C76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2011680"/>
            <a:ext cx="201168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86968" y="2121408"/>
            <a:ext cx="548640" cy="320040"/>
          </a:xfrm>
          <a:prstGeom prst="round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2148840"/>
            <a:ext cx="8229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8F4EE"/>
                </a:solidFill>
                <a:latin typeface="Calibri"/>
              </a:rPr>
              <a:t>03-05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" y="2523744"/>
            <a:ext cx="1755648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7202A"/>
                </a:solidFill>
                <a:latin typeface="Calibri"/>
              </a:rPr>
              <a:t>三路對照與全樣本規則拆解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3090672"/>
            <a:ext cx="1737360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4F5B67"/>
                </a:solidFill>
                <a:latin typeface="Calibri"/>
              </a:rPr>
              <a:t>確認 mixed purity 容易混入組織差異，主線改成純樣本優先。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11880" y="2011680"/>
            <a:ext cx="201168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721608" y="2121408"/>
            <a:ext cx="548640" cy="320040"/>
          </a:xfrm>
          <a:prstGeom prst="round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76472" y="2148840"/>
            <a:ext cx="8229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8F4EE"/>
                </a:solidFill>
                <a:latin typeface="Calibri"/>
              </a:rPr>
              <a:t>03-07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39896" y="2523744"/>
            <a:ext cx="1755648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7202A"/>
                </a:solidFill>
                <a:latin typeface="Calibri"/>
              </a:rPr>
              <a:t>paired rerun 與 TO pilot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39896" y="3090672"/>
            <a:ext cx="1737360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4F5B67"/>
                </a:solidFill>
                <a:latin typeface="Calibri"/>
              </a:rPr>
              <a:t>paired pure 與 TO 主流程正式跑通，確立 5kHz 主實驗樣本地位。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46520" y="2011680"/>
            <a:ext cx="201168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56248" y="2121408"/>
            <a:ext cx="548640" cy="320040"/>
          </a:xfrm>
          <a:prstGeom prst="round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11112" y="2148840"/>
            <a:ext cx="8229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8F4EE"/>
                </a:solidFill>
                <a:latin typeface="Calibri"/>
              </a:rPr>
              <a:t>03-08~09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74536" y="2523744"/>
            <a:ext cx="1755648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7202A"/>
                </a:solidFill>
                <a:latin typeface="Calibri"/>
              </a:rPr>
              <a:t>candidate-specific rescue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74536" y="3090672"/>
            <a:ext cx="1737360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4F5B67"/>
                </a:solidFill>
                <a:latin typeface="Calibri"/>
              </a:rPr>
              <a:t>甲基 support 在 TO 下成立，但不穩定跨樣本。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81160" y="2011680"/>
            <a:ext cx="201168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390888" y="2121408"/>
            <a:ext cx="548640" cy="320040"/>
          </a:xfrm>
          <a:prstGeom prst="round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45752" y="2148840"/>
            <a:ext cx="8229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8F4EE"/>
                </a:solidFill>
                <a:latin typeface="Calibri"/>
              </a:rPr>
              <a:t>03-11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09176" y="2523744"/>
            <a:ext cx="1755648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7202A"/>
                </a:solidFill>
                <a:latin typeface="Calibri"/>
              </a:rPr>
              <a:t>phase 2 + annotation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09176" y="3090672"/>
            <a:ext cx="1737360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4F5B67"/>
                </a:solidFill>
                <a:latin typeface="Calibri"/>
              </a:rPr>
              <a:t>paired raw 對照與 finer interval 已回接 annotation layer。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532120"/>
            <a:ext cx="109728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669280"/>
            <a:ext cx="104241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30" b="0" i="0">
                <a:solidFill>
                  <a:srgbClr val="4F5B67"/>
                </a:solidFill>
                <a:latin typeface="Calibri"/>
              </a:rPr>
              <a:t>時間軸重點：3/05 先排除 mixed 主線，3/07 跑通 paired / TO，3/08~09 確立 candidate-specific rescue，3/11 完成 phase 2 與 annotation 回接。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619963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4B5563"/>
                </a:solidFill>
                <a:latin typeface="Calibri"/>
              </a:rPr>
              <a:t>Generated from the validated weekly report and phase 2 / annotation outputs.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1722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4B5563"/>
                </a:solidFill>
                <a:latin typeface="Calibri"/>
              </a:rPr>
              <a:t>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6D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7202A"/>
                </a:solidFill>
                <a:latin typeface="Georgia"/>
              </a:rPr>
              <a:t>paired pure 正式 rerun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E6572"/>
                </a:solidFill>
                <a:latin typeface="Calibri"/>
              </a:rPr>
              <a:t>5kHz 仍是最有壓力的主樣本；DORADO 則是穩定交叉驗證基準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67208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aired_rerun_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74519"/>
            <a:ext cx="6355080" cy="3429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5376672"/>
            <a:ext cx="61264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19" b="0" i="0">
                <a:solidFill>
                  <a:srgbClr val="4F5B67"/>
                </a:solidFill>
                <a:latin typeface="Calibri"/>
              </a:rPr>
              <a:t>圖意：X 軸是 paired dataset，Y 軸是 F1。每組三根柱分別代表 ClairS、LongPhase-S、InterSubMod。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1645920"/>
            <a:ext cx="379476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0" y="1874519"/>
            <a:ext cx="1828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7202A"/>
                </a:solidFill>
                <a:latin typeface="Calibri"/>
              </a:rPr>
              <a:t>5kHz paired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2148840"/>
            <a:ext cx="34747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E6572"/>
                </a:solidFill>
                <a:latin typeface="Calibri"/>
              </a:rPr>
              <a:t>ClairS 0.8443 → LongPhase-S 0.8522 → InterSubMod 0.8532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615184"/>
            <a:ext cx="3429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17202A"/>
                </a:solidFill>
                <a:latin typeface="Calibri"/>
              </a:rPr>
              <a:t>意義：在最 noisy 主樣本上，甲基與 phase 整合有實際正增益。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3730752"/>
            <a:ext cx="379476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0" y="3904487"/>
            <a:ext cx="1828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7202A"/>
                </a:solidFill>
                <a:latin typeface="Calibri"/>
              </a:rPr>
              <a:t>DORADO paired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4178808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E6572"/>
                </a:solidFill>
                <a:latin typeface="Calibri"/>
              </a:rPr>
              <a:t>ClairS 0.8565 → LongPhase-S 0.8592 → InterSubMod 0.8590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4645152"/>
            <a:ext cx="3429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17202A"/>
                </a:solidFill>
                <a:latin typeface="Calibri"/>
              </a:rPr>
              <a:t>意義：跨平台方向可驗證，但同一規則不保證可攜。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19963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4B5563"/>
                </a:solidFill>
                <a:latin typeface="Calibri"/>
              </a:rPr>
              <a:t>Generated from the validated weekly report and phase 2 / annotation outputs.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1722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4B5563"/>
                </a:solidFill>
                <a:latin typeface="Calibri"/>
              </a:rPr>
              <a:t>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7202A"/>
                </a:solidFill>
                <a:latin typeface="Georgia"/>
              </a:rPr>
              <a:t>tumor-only candidate-specific rescue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E6572"/>
                </a:solidFill>
                <a:latin typeface="Calibri"/>
              </a:rPr>
              <a:t>TO 下已正式證明：甲基訊號不是全負效果，但仍未超過最佳 caller-only gate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507492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38528"/>
            <a:ext cx="25603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7202A"/>
                </a:solidFill>
                <a:latin typeface="Calibri"/>
              </a:rPr>
              <a:t>HCC1395 5kHz TO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96112" y="2331720"/>
          <a:ext cx="464515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1081"/>
                <a:gridCol w="479941"/>
                <a:gridCol w="479941"/>
                <a:gridCol w="814187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10" b="1">
                          <a:solidFill>
                            <a:srgbClr val="F8F4EE"/>
                          </a:solidFill>
                          <a:latin typeface="Calibri"/>
                        </a:rPr>
                        <a:t>規則</a:t>
                      </a:r>
                    </a:p>
                  </a:txBody>
                  <a:tcPr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0" b="1">
                          <a:solidFill>
                            <a:srgbClr val="F8F4EE"/>
                          </a:solidFill>
                          <a:latin typeface="Calibri"/>
                        </a:rPr>
                        <a:t>TP</a:t>
                      </a:r>
                    </a:p>
                  </a:txBody>
                  <a:tcPr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0" b="1">
                          <a:solidFill>
                            <a:srgbClr val="F8F4EE"/>
                          </a:solidFill>
                          <a:latin typeface="Calibri"/>
                        </a:rPr>
                        <a:t>FP</a:t>
                      </a:r>
                    </a:p>
                  </a:txBody>
                  <a:tcPr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0" b="1">
                          <a:solidFill>
                            <a:srgbClr val="F8F4EE"/>
                          </a:solidFill>
                          <a:latin typeface="Calibri"/>
                        </a:rPr>
                        <a:t>ΔF1</a:t>
                      </a:r>
                    </a:p>
                  </a:txBody>
                  <a:tcPr>
                    <a:solidFill>
                      <a:srgbClr val="1E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10">
                          <a:solidFill>
                            <a:srgbClr val="17202A"/>
                          </a:solidFill>
                          <a:latin typeface="Calibri"/>
                        </a:rPr>
                        <a:t>caller-only | QUAL&gt;=10 or GQ&gt;=20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0">
                          <a:solidFill>
                            <a:srgbClr val="17202A"/>
                          </a:solidFill>
                          <a:latin typeface="Calibri"/>
                        </a:rPr>
                        <a:t>491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0">
                          <a:solidFill>
                            <a:srgbClr val="17202A"/>
                          </a:solidFill>
                          <a:latin typeface="Calibri"/>
                        </a:rPr>
                        <a:t>118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0">
                          <a:solidFill>
                            <a:srgbClr val="17202A"/>
                          </a:solidFill>
                          <a:latin typeface="Calibri"/>
                        </a:rPr>
                        <a:t>+0.006824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10">
                          <a:solidFill>
                            <a:srgbClr val="17202A"/>
                          </a:solidFill>
                          <a:latin typeface="Calibri"/>
                        </a:rPr>
                        <a:t>caller+甲基 | GQ&gt;=10 + Pairwise&gt;=0.20</a:t>
                      </a:r>
                    </a:p>
                  </a:txBody>
                  <a:tcPr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0">
                          <a:solidFill>
                            <a:srgbClr val="17202A"/>
                          </a:solidFill>
                          <a:latin typeface="Calibri"/>
                        </a:rPr>
                        <a:t>300</a:t>
                      </a:r>
                    </a:p>
                  </a:txBody>
                  <a:tcPr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0">
                          <a:solidFill>
                            <a:srgbClr val="17202A"/>
                          </a:solidFill>
                          <a:latin typeface="Calibri"/>
                        </a:rPr>
                        <a:t>68</a:t>
                      </a:r>
                    </a:p>
                  </a:txBody>
                  <a:tcPr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0">
                          <a:solidFill>
                            <a:srgbClr val="17202A"/>
                          </a:solidFill>
                          <a:latin typeface="Calibri"/>
                        </a:rPr>
                        <a:t>+0.004219</a:t>
                      </a:r>
                    </a:p>
                  </a:txBody>
                  <a:tcPr>
                    <a:solidFill>
                      <a:srgbClr val="F4F0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10">
                          <a:solidFill>
                            <a:srgbClr val="17202A"/>
                          </a:solidFill>
                          <a:latin typeface="Calibri"/>
                        </a:rPr>
                        <a:t>caller+標籤 | GQ&gt;=10 + agreement_positive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0">
                          <a:solidFill>
                            <a:srgbClr val="17202A"/>
                          </a:solidFill>
                          <a:latin typeface="Calibri"/>
                        </a:rPr>
                        <a:t>148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0">
                          <a:solidFill>
                            <a:srgbClr val="17202A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0">
                          <a:solidFill>
                            <a:srgbClr val="17202A"/>
                          </a:solidFill>
                          <a:latin typeface="Calibri"/>
                        </a:rPr>
                        <a:t>+0.002163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14400" y="4315968"/>
            <a:ext cx="4498848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80" b="0" i="0">
                <a:solidFill>
                  <a:srgbClr val="4F5B67"/>
                </a:solidFill>
                <a:latin typeface="Calibri"/>
              </a:rPr>
              <a:t>甲基不是全負效果，而且確實救回一批 TP；但在同一 caller gate 後，仍未超過最佳 caller-only。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5230368"/>
            <a:ext cx="4553712" cy="402336"/>
          </a:xfrm>
          <a:prstGeom prst="round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2416" y="5340096"/>
            <a:ext cx="4160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19" b="1" i="0">
                <a:solidFill>
                  <a:srgbClr val="F8F4EE"/>
                </a:solidFill>
                <a:latin typeface="Calibri"/>
              </a:rPr>
              <a:t>定位：caller-first + methylation-support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737360"/>
            <a:ext cx="507492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938528"/>
            <a:ext cx="25603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7202A"/>
                </a:solidFill>
                <a:latin typeface="Calibri"/>
              </a:rPr>
              <a:t>HCC1395 DORADO TO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428231" y="2331720"/>
          <a:ext cx="464515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1081"/>
                <a:gridCol w="479941"/>
                <a:gridCol w="479941"/>
                <a:gridCol w="814187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10" b="1">
                          <a:solidFill>
                            <a:srgbClr val="F8F4EE"/>
                          </a:solidFill>
                          <a:latin typeface="Calibri"/>
                        </a:rPr>
                        <a:t>規則</a:t>
                      </a:r>
                    </a:p>
                  </a:txBody>
                  <a:tcPr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0" b="1">
                          <a:solidFill>
                            <a:srgbClr val="F8F4EE"/>
                          </a:solidFill>
                          <a:latin typeface="Calibri"/>
                        </a:rPr>
                        <a:t>TP</a:t>
                      </a:r>
                    </a:p>
                  </a:txBody>
                  <a:tcPr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0" b="1">
                          <a:solidFill>
                            <a:srgbClr val="F8F4EE"/>
                          </a:solidFill>
                          <a:latin typeface="Calibri"/>
                        </a:rPr>
                        <a:t>FP</a:t>
                      </a:r>
                    </a:p>
                  </a:txBody>
                  <a:tcPr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0" b="1">
                          <a:solidFill>
                            <a:srgbClr val="F8F4EE"/>
                          </a:solidFill>
                          <a:latin typeface="Calibri"/>
                        </a:rPr>
                        <a:t>ΔF1</a:t>
                      </a:r>
                    </a:p>
                  </a:txBody>
                  <a:tcPr>
                    <a:solidFill>
                      <a:srgbClr val="1E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10">
                          <a:solidFill>
                            <a:srgbClr val="17202A"/>
                          </a:solidFill>
                          <a:latin typeface="Calibri"/>
                        </a:rPr>
                        <a:t>caller-only | GQ&gt;=10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0">
                          <a:solidFill>
                            <a:srgbClr val="17202A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0">
                          <a:solidFill>
                            <a:srgbClr val="17202A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0">
                          <a:solidFill>
                            <a:srgbClr val="17202A"/>
                          </a:solidFill>
                          <a:latin typeface="Calibri"/>
                        </a:rPr>
                        <a:t>+0.000540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10">
                          <a:solidFill>
                            <a:srgbClr val="17202A"/>
                          </a:solidFill>
                          <a:latin typeface="Calibri"/>
                        </a:rPr>
                        <a:t>甲基-only | Quality&gt;=60</a:t>
                      </a:r>
                    </a:p>
                  </a:txBody>
                  <a:tcPr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0">
                          <a:solidFill>
                            <a:srgbClr val="17202A"/>
                          </a:solidFill>
                          <a:latin typeface="Calibri"/>
                        </a:rPr>
                        <a:t>208</a:t>
                      </a:r>
                    </a:p>
                  </a:txBody>
                  <a:tcPr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0">
                          <a:solidFill>
                            <a:srgbClr val="17202A"/>
                          </a:solidFill>
                          <a:latin typeface="Calibri"/>
                        </a:rPr>
                        <a:t>77</a:t>
                      </a:r>
                    </a:p>
                  </a:txBody>
                  <a:tcPr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0">
                          <a:solidFill>
                            <a:srgbClr val="17202A"/>
                          </a:solidFill>
                          <a:latin typeface="Calibri"/>
                        </a:rPr>
                        <a:t>+0.002620</a:t>
                      </a:r>
                    </a:p>
                  </a:txBody>
                  <a:tcPr>
                    <a:solidFill>
                      <a:srgbClr val="F4F0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10">
                          <a:solidFill>
                            <a:srgbClr val="17202A"/>
                          </a:solidFill>
                          <a:latin typeface="Calibri"/>
                        </a:rPr>
                        <a:t>甲基-only | Pairwise&lt;=0.20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0">
                          <a:solidFill>
                            <a:srgbClr val="17202A"/>
                          </a:solidFill>
                          <a:latin typeface="Calibri"/>
                        </a:rPr>
                        <a:t>173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0">
                          <a:solidFill>
                            <a:srgbClr val="17202A"/>
                          </a:solidFill>
                          <a:latin typeface="Calibri"/>
                        </a:rP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0">
                          <a:solidFill>
                            <a:srgbClr val="17202A"/>
                          </a:solidFill>
                          <a:latin typeface="Calibri"/>
                        </a:rPr>
                        <a:t>+0.002217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446520" y="4315968"/>
            <a:ext cx="4498848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80" b="0" i="0">
                <a:solidFill>
                  <a:srgbClr val="4F5B67"/>
                </a:solidFill>
                <a:latin typeface="Calibri"/>
              </a:rPr>
              <a:t>DORADO TO 也證明甲基不是全負效果，但 Pairwise 方向與 5kHz TO 不同，顯示 support 具有 dataset-dependence。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46520" y="5230368"/>
            <a:ext cx="4553712" cy="402336"/>
          </a:xfrm>
          <a:prstGeom prst="roundRect">
            <a:avLst/>
          </a:prstGeom>
          <a:solidFill>
            <a:srgbClr val="C76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74536" y="5340096"/>
            <a:ext cx="4160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19" b="1" i="0">
                <a:solidFill>
                  <a:srgbClr val="F8F4EE"/>
                </a:solidFill>
                <a:latin typeface="Calibri"/>
              </a:rPr>
              <a:t>定位：support 成立，但仍不可升級成全域規則；本輪以 candidate-window subset BAM 完成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19963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4B5563"/>
                </a:solidFill>
                <a:latin typeface="Calibri"/>
              </a:rPr>
              <a:t>Generated from the validated weekly report and phase 2 / annotation outputs.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1722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4B5563"/>
                </a:solidFill>
                <a:latin typeface="Calibri"/>
              </a:rPr>
              <a:t>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6D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7202A"/>
                </a:solidFill>
                <a:latin typeface="Georgia"/>
              </a:rPr>
              <a:t>phase 2：paired raw pileup / full 對照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E6572"/>
                </a:solidFill>
                <a:latin typeface="Calibri"/>
              </a:rPr>
              <a:t>paired 問題下，raw caller 有 recall 空間，但 precision 代價過高，不適合直接當最終輸出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681228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hase2_paired_raw_bench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6400800" cy="3520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5468112"/>
            <a:ext cx="6309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4F5B67"/>
                </a:solidFill>
                <a:latin typeface="Calibri"/>
              </a:rPr>
              <a:t>圖意：X 軸為 F1，Y 軸為不同 caller 層級來源。左圖是 5kHz paired，右圖是 DORADO paired。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26679" y="1645920"/>
            <a:ext cx="370332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26679" y="1901952"/>
            <a:ext cx="1828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7202A"/>
                </a:solidFill>
                <a:latin typeface="Calibri"/>
              </a:rPr>
              <a:t>phase 2 結論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82127" y="2240280"/>
            <a:ext cx="2971800" cy="2651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100">
                <a:solidFill>
                  <a:srgbClr val="17202A"/>
                </a:solidFill>
                <a:latin typeface="Calibri"/>
              </a:rPr>
              <a:t>5kHz paired：raw pileup/full 確實多召回，但 precision 成本太高，F1 明顯低於 merged output。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17202A"/>
                </a:solidFill>
                <a:latin typeface="Calibri"/>
              </a:rPr>
              <a:t>DORADO paired：raw full 比 raw pileup 更高，但仍低於 merged output，更低於 LongPhase-S / InterSubMod。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17202A"/>
                </a:solidFill>
                <a:latin typeface="Calibri"/>
              </a:rPr>
              <a:t>paired 問題下，raw caller 不適合直接取代 merged caller 當正式輸出。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17202A"/>
                </a:solidFill>
                <a:latin typeface="Calibri"/>
              </a:rPr>
              <a:t>phase 2 的價值在於辨識『召回空間在哪裡』，不是直接把 raw caller 當最終口徑。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82127" y="5193792"/>
            <a:ext cx="2926080" cy="384048"/>
          </a:xfrm>
          <a:prstGeom prst="roundRect">
            <a:avLst/>
          </a:prstGeom>
          <a:solidFill>
            <a:srgbClr val="6E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0" y="5294376"/>
            <a:ext cx="26060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80" b="1" i="0">
                <a:solidFill>
                  <a:srgbClr val="F8F4EE"/>
                </a:solidFill>
                <a:latin typeface="Calibri"/>
              </a:rPr>
              <a:t>paired 的正式主線仍應維持 merged caller → LongPhase → InterSubMod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19963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4B5563"/>
                </a:solidFill>
                <a:latin typeface="Calibri"/>
              </a:rPr>
              <a:t>Generated from the validated weekly report and phase 2 / annotation outputs.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1722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4B5563"/>
                </a:solidFill>
                <a:latin typeface="Calibri"/>
              </a:rPr>
              <a:t>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7202A"/>
                </a:solidFill>
                <a:latin typeface="Georgia"/>
              </a:rPr>
              <a:t>特徵定位與意義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E6572"/>
                </a:solidFill>
                <a:latin typeface="Calibri"/>
              </a:rPr>
              <a:t>這一週已把主要特徵從『到處試規則』收斂成可制度化的角色分工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507492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828800"/>
            <a:ext cx="4572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80" b="1" i="0">
                <a:solidFill>
                  <a:srgbClr val="17202A"/>
                </a:solidFill>
                <a:latin typeface="Calibri"/>
              </a:rPr>
              <a:t>GQ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2048255"/>
            <a:ext cx="45720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19" b="1" i="0">
                <a:solidFill>
                  <a:srgbClr val="C76B50"/>
                </a:solidFill>
                <a:latin typeface="Calibri"/>
              </a:rPr>
              <a:t>caller-first 主規則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286000"/>
            <a:ext cx="4572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80" b="0" i="0">
                <a:solidFill>
                  <a:srgbClr val="4F5B67"/>
                </a:solidFill>
                <a:latin typeface="Calibri"/>
              </a:rPr>
              <a:t>意義：目前最穩定、跨 dataset 最一致的 rescue 訊號。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560320"/>
            <a:ext cx="4572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80" b="0" i="0">
                <a:solidFill>
                  <a:srgbClr val="5E6572"/>
                </a:solidFill>
                <a:latin typeface="Calibri"/>
              </a:rPr>
              <a:t>限制：不能直接解讀成 ClairS / ClairS-TO 一開始就應全域放寬；它更像 caller-side threshold / ranking 訊號。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737360"/>
            <a:ext cx="507492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99631" y="1828800"/>
            <a:ext cx="4572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80" b="1" i="0">
                <a:solidFill>
                  <a:srgbClr val="17202A"/>
                </a:solidFill>
                <a:latin typeface="Calibri"/>
              </a:rPr>
              <a:t>Quality_Score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99631" y="2048255"/>
            <a:ext cx="45720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19" b="1" i="0">
                <a:solidFill>
                  <a:srgbClr val="C76B50"/>
                </a:solidFill>
                <a:latin typeface="Calibri"/>
              </a:rPr>
              <a:t>support annotation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99631" y="2286000"/>
            <a:ext cx="4572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80" b="0" i="0">
                <a:solidFill>
                  <a:srgbClr val="4F5B67"/>
                </a:solidFill>
                <a:latin typeface="Calibri"/>
              </a:rPr>
              <a:t>意義：在兩個 TO dataset 都呈正向 support，適合排序與解讀。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99631" y="2560320"/>
            <a:ext cx="4572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80" b="0" i="0">
                <a:solidFill>
                  <a:srgbClr val="5E6572"/>
                </a:solidFill>
                <a:latin typeface="Calibri"/>
              </a:rPr>
              <a:t>限制：高 Quality 的 FP 仍存在，不應直接 hard keep。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200400"/>
            <a:ext cx="507492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3291840"/>
            <a:ext cx="4572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80" b="1" i="0">
                <a:solidFill>
                  <a:srgbClr val="17202A"/>
                </a:solidFill>
                <a:latin typeface="Calibri"/>
              </a:rPr>
              <a:t>PairwiseMedianDist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3511296"/>
            <a:ext cx="45720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19" b="1" i="0">
                <a:solidFill>
                  <a:srgbClr val="C76B50"/>
                </a:solidFill>
                <a:latin typeface="Calibri"/>
              </a:rPr>
              <a:t>dataset-aware support annotation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3749039"/>
            <a:ext cx="4572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80" b="0" i="0">
                <a:solidFill>
                  <a:srgbClr val="4F5B67"/>
                </a:solidFill>
                <a:latin typeface="Calibri"/>
              </a:rPr>
              <a:t>意義：5kHz TO 偏高 pairwise；DORADO paired / TO 偏低 pairwise。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023360"/>
            <a:ext cx="4572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80" b="0" i="0">
                <a:solidFill>
                  <a:srgbClr val="5E6572"/>
                </a:solidFill>
                <a:latin typeface="Calibri"/>
              </a:rPr>
              <a:t>限制：方向具樣本依賴，不能升級成全域規則；目前更像 dataset-specific 結構 / noise proxy。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35040" y="3200400"/>
            <a:ext cx="507492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99631" y="3291840"/>
            <a:ext cx="4572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80" b="1" i="0">
                <a:solidFill>
                  <a:srgbClr val="17202A"/>
                </a:solidFill>
                <a:latin typeface="Calibri"/>
              </a:rPr>
              <a:t>agreement_positive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99631" y="3511296"/>
            <a:ext cx="45720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19" b="1" i="0">
                <a:solidFill>
                  <a:srgbClr val="C76B50"/>
                </a:solidFill>
                <a:latin typeface="Calibri"/>
              </a:rPr>
              <a:t>label-support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99631" y="3749039"/>
            <a:ext cx="4572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80" b="0" i="0">
                <a:solidFill>
                  <a:srgbClr val="4F5B67"/>
                </a:solidFill>
                <a:latin typeface="Calibri"/>
              </a:rPr>
              <a:t>意義：在 5kHz TO 比單純 Strong/Subclone 更乾淨。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99631" y="4023360"/>
            <a:ext cx="4572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80" b="0" i="0">
                <a:solidFill>
                  <a:srgbClr val="5E6572"/>
                </a:solidFill>
                <a:latin typeface="Calibri"/>
              </a:rPr>
              <a:t>限制：尚未證明跨樣本穩定。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663440"/>
            <a:ext cx="507492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4754879"/>
            <a:ext cx="4572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80" b="1" i="0">
                <a:solidFill>
                  <a:srgbClr val="17202A"/>
                </a:solidFill>
                <a:latin typeface="Calibri"/>
              </a:rPr>
              <a:t>hp_assign_rate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" y="4974336"/>
            <a:ext cx="45720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19" b="1" i="0">
                <a:solidFill>
                  <a:srgbClr val="C76B50"/>
                </a:solidFill>
                <a:latin typeface="Calibri"/>
              </a:rPr>
              <a:t>phase / QC annotation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" y="5212079"/>
            <a:ext cx="4572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80" b="0" i="0">
                <a:solidFill>
                  <a:srgbClr val="4F5B67"/>
                </a:solidFill>
                <a:latin typeface="Calibri"/>
              </a:rPr>
              <a:t>意義：反映 HP 可分派性與 phase completeness。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" y="5486400"/>
            <a:ext cx="4572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80" b="0" i="0">
                <a:solidFill>
                  <a:srgbClr val="5E6572"/>
                </a:solidFill>
                <a:latin typeface="Calibri"/>
              </a:rPr>
              <a:t>限制：TP 與 FP 都可能很高，不能當 truth-level keep 規則。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35040" y="4663440"/>
            <a:ext cx="507492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99631" y="4754879"/>
            <a:ext cx="4572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80" b="1" i="0">
                <a:solidFill>
                  <a:srgbClr val="17202A"/>
                </a:solidFill>
                <a:latin typeface="Calibri"/>
              </a:rPr>
              <a:t>low VAF + high AD + low CV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99631" y="4974336"/>
            <a:ext cx="45720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19" b="1" i="0">
                <a:solidFill>
                  <a:srgbClr val="C76B50"/>
                </a:solidFill>
                <a:latin typeface="Calibri"/>
              </a:rPr>
              <a:t>artifact triage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99631" y="5212079"/>
            <a:ext cx="4572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80" b="0" i="0">
                <a:solidFill>
                  <a:srgbClr val="4F5B67"/>
                </a:solidFill>
                <a:latin typeface="Calibri"/>
              </a:rPr>
              <a:t>意義：對 5kHz 的後段刪 FP 有價值。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99631" y="5486400"/>
            <a:ext cx="4572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80" b="0" i="0">
                <a:solidFill>
                  <a:srgbClr val="5E6572"/>
                </a:solidFill>
                <a:latin typeface="Calibri"/>
              </a:rPr>
              <a:t>限制：不適合作 TP rescue 主規則，也不能直接前置化。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619963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4B5563"/>
                </a:solidFill>
                <a:latin typeface="Calibri"/>
              </a:rPr>
              <a:t>Generated from the validated weekly report and phase 2 / annotation outputs.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1722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4B5563"/>
                </a:solidFill>
                <a:latin typeface="Calibri"/>
              </a:rPr>
              <a:t>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6D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7202A"/>
                </a:solidFill>
                <a:latin typeface="Georgia"/>
              </a:rPr>
              <a:t>annotation layer 決策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E6572"/>
                </a:solidFill>
                <a:latin typeface="Calibri"/>
              </a:rPr>
              <a:t>phase 2 的 finer interval 已回接到 annotation 層，但目前仍不應直接改成 hard keep / hard filter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83080"/>
            <a:ext cx="342900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892807"/>
            <a:ext cx="27432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20" b="1" i="0">
                <a:solidFill>
                  <a:srgbClr val="17202A"/>
                </a:solidFill>
                <a:latin typeface="Calibri"/>
              </a:rPr>
              <a:t>HCC1395 5kHz 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2148840"/>
            <a:ext cx="28346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40" b="1" i="0">
                <a:solidFill>
                  <a:srgbClr val="C76B50"/>
                </a:solidFill>
                <a:latin typeface="Calibri"/>
              </a:rPr>
              <a:t>caller_primary_only (gq&gt;=10)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404872"/>
            <a:ext cx="20116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4F5B67"/>
                </a:solidFill>
                <a:latin typeface="Calibri"/>
              </a:rPr>
              <a:t>ΔF1 vs baseline：+0.006754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624328"/>
            <a:ext cx="29260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90" b="0" i="0">
                <a:solidFill>
                  <a:srgbClr val="5E6572"/>
                </a:solidFill>
                <a:latin typeface="Calibri"/>
              </a:rPr>
              <a:t>annotation 有資訊，但沒有超過最佳 caller-first。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246120"/>
            <a:ext cx="342900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3355848"/>
            <a:ext cx="27432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20" b="1" i="0">
                <a:solidFill>
                  <a:srgbClr val="17202A"/>
                </a:solidFill>
                <a:latin typeface="Calibri"/>
              </a:rPr>
              <a:t>HCC1395 5kHz paired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611879"/>
            <a:ext cx="28346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40" b="1" i="0">
                <a:solidFill>
                  <a:srgbClr val="C76B50"/>
                </a:solidFill>
                <a:latin typeface="Calibri"/>
              </a:rPr>
              <a:t>caller_primary_only (gq&gt;=15)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3867911"/>
            <a:ext cx="20116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4F5B67"/>
                </a:solidFill>
                <a:latin typeface="Calibri"/>
              </a:rPr>
              <a:t>ΔF1 vs baseline：+0.000873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4087368"/>
            <a:ext cx="29260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90" b="0" i="0">
                <a:solidFill>
                  <a:srgbClr val="5E6572"/>
                </a:solidFill>
                <a:latin typeface="Calibri"/>
              </a:rPr>
              <a:t>paired 仍由 caller 主導。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60" y="1783080"/>
            <a:ext cx="342900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5152" y="1892807"/>
            <a:ext cx="27432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20" b="1" i="0">
                <a:solidFill>
                  <a:srgbClr val="17202A"/>
                </a:solidFill>
                <a:latin typeface="Calibri"/>
              </a:rPr>
              <a:t>HCC1395 DORADO paired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5152" y="2148840"/>
            <a:ext cx="28346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40" b="1" i="0">
                <a:solidFill>
                  <a:srgbClr val="C76B50"/>
                </a:solidFill>
                <a:latin typeface="Calibri"/>
              </a:rPr>
              <a:t>caller_strict_only (gq&gt;=20)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5152" y="2404872"/>
            <a:ext cx="20116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4F5B67"/>
                </a:solidFill>
                <a:latin typeface="Calibri"/>
              </a:rPr>
              <a:t>ΔF1 vs baseline：+0.000635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45152" y="2624328"/>
            <a:ext cx="29260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90" b="0" i="0">
                <a:solidFill>
                  <a:srgbClr val="5E6572"/>
                </a:solidFill>
                <a:latin typeface="Calibri"/>
              </a:rPr>
              <a:t>更嚴格的 caller gate 最穩。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80560" y="3246120"/>
            <a:ext cx="342900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45152" y="3355848"/>
            <a:ext cx="27432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20" b="1" i="0">
                <a:solidFill>
                  <a:srgbClr val="17202A"/>
                </a:solidFill>
                <a:latin typeface="Calibri"/>
              </a:rPr>
              <a:t>HCC1395 DORADO 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45152" y="3611879"/>
            <a:ext cx="28346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40" b="1" i="0">
                <a:solidFill>
                  <a:srgbClr val="C76B50"/>
                </a:solidFill>
                <a:latin typeface="Calibri"/>
              </a:rPr>
              <a:t>caller_primary_only (gq&gt;=10)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45152" y="3867911"/>
            <a:ext cx="20116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4F5B67"/>
                </a:solidFill>
                <a:latin typeface="Calibri"/>
              </a:rPr>
              <a:t>ΔF1 vs baseline：+0.000540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45152" y="4087368"/>
            <a:ext cx="29260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90" b="0" i="0">
                <a:solidFill>
                  <a:srgbClr val="5E6572"/>
                </a:solidFill>
                <a:latin typeface="Calibri"/>
              </a:rPr>
              <a:t>annotation 追得很近，但仍略低於 caller-only。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66760" y="1783080"/>
            <a:ext cx="2880360" cy="960120"/>
          </a:xfrm>
          <a:prstGeom prst="round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31352" y="1911095"/>
            <a:ext cx="2377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8F4EE"/>
                </a:solidFill>
                <a:latin typeface="Calibri"/>
              </a:rPr>
              <a:t>Quality_Score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31352" y="2167128"/>
            <a:ext cx="23317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D6DCE5"/>
                </a:solidFill>
                <a:latin typeface="Calibri"/>
              </a:rPr>
              <a:t>升級為 support annotation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66760" y="3044952"/>
            <a:ext cx="2880360" cy="960120"/>
          </a:xfrm>
          <a:prstGeom prst="roundRect">
            <a:avLst/>
          </a:prstGeom>
          <a:solidFill>
            <a:srgbClr val="E9D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31352" y="3172968"/>
            <a:ext cx="2377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7202A"/>
                </a:solidFill>
                <a:latin typeface="Calibri"/>
              </a:rPr>
              <a:t>PairwiseMedianDist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31352" y="3429000"/>
            <a:ext cx="23317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E6572"/>
                </a:solidFill>
                <a:latin typeface="Calibri"/>
              </a:rPr>
              <a:t>升級為 dataset-aware support annotation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66760" y="4306824"/>
            <a:ext cx="2880360" cy="960120"/>
          </a:xfrm>
          <a:prstGeom prst="roundRect">
            <a:avLst/>
          </a:prstGeom>
          <a:solidFill>
            <a:srgbClr val="D6E7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31352" y="4434840"/>
            <a:ext cx="2377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7202A"/>
                </a:solidFill>
                <a:latin typeface="Calibri"/>
              </a:rPr>
              <a:t>hp_assign_rate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31352" y="4690872"/>
            <a:ext cx="23317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E6572"/>
                </a:solidFill>
                <a:latin typeface="Calibri"/>
              </a:rPr>
              <a:t>降階為 phase / QC annotation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5074920"/>
            <a:ext cx="106984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276088"/>
            <a:ext cx="102412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30" b="0" i="0">
                <a:solidFill>
                  <a:srgbClr val="4F5B67"/>
                </a:solidFill>
                <a:latin typeface="Calibri"/>
              </a:rPr>
              <a:t>目前最合理的下一步，是把 annotation 接到 round summary / dashboard / diagnostics 匯出，而不是先把它們改成新的 hard keep 或 hard filter。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619963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4B5563"/>
                </a:solidFill>
                <a:latin typeface="Calibri"/>
              </a:rPr>
              <a:t>Generated from the validated weekly report and phase 2 / annotation outputs.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1722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4B5563"/>
                </a:solidFill>
                <a:latin typeface="Calibri"/>
              </a:rPr>
              <a:t>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8F4EE"/>
                </a:solidFill>
                <a:latin typeface="Georgia"/>
              </a:rPr>
              <a:t>待補齊事項與下一步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D6DCE5"/>
                </a:solidFill>
                <a:latin typeface="Calibri"/>
              </a:rPr>
              <a:t>現在最合理的做法是先把 annotation 接到輸出層，再決定是否改核心規則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737360"/>
            <a:ext cx="3520440" cy="4315968"/>
          </a:xfrm>
          <a:prstGeom prst="roundRect">
            <a:avLst/>
          </a:prstGeom>
          <a:solidFill>
            <a:srgbClr val="F4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965960"/>
            <a:ext cx="1371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7202A"/>
                </a:solidFill>
                <a:latin typeface="Calibri"/>
              </a:rPr>
              <a:t>目前尚缺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2331720"/>
            <a:ext cx="2999232" cy="32918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80">
                <a:solidFill>
                  <a:srgbClr val="17202A"/>
                </a:solidFill>
                <a:latin typeface="Calibri"/>
              </a:rPr>
              <a:t>paired 的 candidate-specific methylation coverage ceiling 仍偏低：5kHz paired 11.41% / 10.20%，DORADO paired 8.29% / 19.66%；因此 paired 的甲基無效不能直接解釋成沒有價值。</a:t>
            </a:r>
          </a:p>
          <a:p>
            <a:pPr algn="l">
              <a:spcAft>
                <a:spcPts val="600"/>
              </a:spcAft>
            </a:pPr>
            <a:r>
              <a:rPr sz="1080">
                <a:solidFill>
                  <a:srgbClr val="17202A"/>
                </a:solidFill>
                <a:latin typeface="Calibri"/>
              </a:rPr>
              <a:t>TO 的 pileup vs full model 目前還沒有完整雙模型可比矩陣，因此 TO 模型差異結論仍以 pileup 路線為主。</a:t>
            </a:r>
          </a:p>
          <a:p>
            <a:pPr algn="l">
              <a:spcAft>
                <a:spcPts val="600"/>
              </a:spcAft>
            </a:pPr>
            <a:r>
              <a:rPr sz="1080">
                <a:solidFill>
                  <a:srgbClr val="17202A"/>
                </a:solidFill>
                <a:latin typeface="Calibri"/>
              </a:rPr>
              <a:t>5kHz TO 與 DORADO TO 的 snapshot scope 不同，read-level 圖只能做方向比較。</a:t>
            </a:r>
          </a:p>
          <a:p>
            <a:pPr algn="l">
              <a:spcAft>
                <a:spcPts val="600"/>
              </a:spcAft>
            </a:pPr>
            <a:r>
              <a:rPr sz="1080">
                <a:solidFill>
                  <a:srgbClr val="17202A"/>
                </a:solidFill>
                <a:latin typeface="Calibri"/>
              </a:rPr>
              <a:t>Pool B FN 已證明 caller non-PASS FN 中仍有研究空間，但目前仍以 caller-side rescue 主導。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34256" y="1737360"/>
            <a:ext cx="3520440" cy="43159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1965960"/>
            <a:ext cx="1371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7202A"/>
                </a:solidFill>
                <a:latin typeface="Calibri"/>
              </a:rPr>
              <a:t>下一步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17136" y="2331720"/>
            <a:ext cx="2999232" cy="32918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80">
                <a:solidFill>
                  <a:srgbClr val="17202A"/>
                </a:solidFill>
                <a:latin typeface="Calibri"/>
              </a:rPr>
              <a:t>把 annotation 欄位接到 round summary、dashboard 與 diagnostics 匯出。</a:t>
            </a:r>
          </a:p>
          <a:p>
            <a:pPr algn="l">
              <a:spcAft>
                <a:spcPts val="600"/>
              </a:spcAft>
            </a:pPr>
            <a:r>
              <a:rPr sz="1080">
                <a:solidFill>
                  <a:srgbClr val="17202A"/>
                </a:solidFill>
                <a:latin typeface="Calibri"/>
              </a:rPr>
              <a:t>持續累積 finer interval 與 orthogonality 的 cross-dataset 證據。</a:t>
            </a:r>
          </a:p>
          <a:p>
            <a:pPr algn="l">
              <a:spcAft>
                <a:spcPts val="600"/>
              </a:spcAft>
            </a:pPr>
            <a:r>
              <a:rPr sz="1080">
                <a:solidFill>
                  <a:srgbClr val="17202A"/>
                </a:solidFill>
                <a:latin typeface="Calibri"/>
              </a:rPr>
              <a:t>若未來要升級規則，先升級成 annotation export，不直接改核心過濾。</a:t>
            </a:r>
          </a:p>
          <a:p>
            <a:pPr algn="l">
              <a:spcAft>
                <a:spcPts val="600"/>
              </a:spcAft>
            </a:pPr>
            <a:r>
              <a:rPr sz="1080">
                <a:solidFill>
                  <a:srgbClr val="17202A"/>
                </a:solidFill>
                <a:latin typeface="Calibri"/>
              </a:rPr>
              <a:t>保留 5kHz artifact triage 作 dataset-specific 診斷，而不是全域規則。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1737360"/>
            <a:ext cx="3657600" cy="4315968"/>
          </a:xfrm>
          <a:prstGeom prst="roundRect">
            <a:avLst/>
          </a:prstGeom>
          <a:solidFill>
            <a:srgbClr val="C76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58784" y="1965960"/>
            <a:ext cx="1828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8F4EE"/>
                </a:solidFill>
                <a:latin typeface="Calibri"/>
              </a:rPr>
              <a:t>現階段不建議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11312" y="2331720"/>
            <a:ext cx="2999232" cy="32918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80">
                <a:solidFill>
                  <a:srgbClr val="F8F4EE"/>
                </a:solidFill>
                <a:latin typeface="Calibri"/>
              </a:rPr>
              <a:t>不要把 Quality 或 Pairwise 直接變成新的 hard keep。</a:t>
            </a:r>
          </a:p>
          <a:p>
            <a:pPr algn="l">
              <a:spcAft>
                <a:spcPts val="600"/>
              </a:spcAft>
            </a:pPr>
            <a:r>
              <a:rPr sz="1080">
                <a:solidFill>
                  <a:srgbClr val="F8F4EE"/>
                </a:solidFill>
                <a:latin typeface="Calibri"/>
              </a:rPr>
              <a:t>不要把 artifact-veto 直接拿去做 TP rescue 主規則。</a:t>
            </a:r>
          </a:p>
          <a:p>
            <a:pPr algn="l">
              <a:spcAft>
                <a:spcPts val="600"/>
              </a:spcAft>
            </a:pPr>
            <a:r>
              <a:rPr sz="1080">
                <a:solidFill>
                  <a:srgbClr val="F8F4EE"/>
                </a:solidFill>
                <a:latin typeface="Calibri"/>
              </a:rPr>
              <a:t>不要把 5kHz 單一 dataset 的 Pairwise 方向寫成跨樣本結論。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19963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D6DCE5"/>
                </a:solidFill>
                <a:latin typeface="Calibri"/>
              </a:rPr>
              <a:t>Generated from the validated weekly report and phase 2 / annotation outputs.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1722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D6DCE5"/>
                </a:solidFill>
                <a:latin typeface="Calibri"/>
              </a:rPr>
              <a:t>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7202A"/>
                </a:solidFill>
                <a:latin typeface="Georgia"/>
              </a:rPr>
              <a:t>複查路徑與再生成方式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E6572"/>
                </a:solidFill>
                <a:latin typeface="Calibri"/>
              </a:rPr>
              <a:t>本簡報對應的來源、數據與客製化設定檔都可直接回查與重生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64208"/>
            <a:ext cx="379476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681728" y="1664208"/>
            <a:ext cx="324612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83296" y="1664208"/>
            <a:ext cx="338328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01952"/>
            <a:ext cx="1371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7202A"/>
                </a:solidFill>
                <a:latin typeface="Calibri"/>
              </a:rPr>
              <a:t>核心文件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64608" y="1901952"/>
            <a:ext cx="1371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7202A"/>
                </a:solidFill>
                <a:latin typeface="Calibri"/>
              </a:rPr>
              <a:t>主要數據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66175" y="1901952"/>
            <a:ext cx="16459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7202A"/>
                </a:solidFill>
                <a:latin typeface="Calibri"/>
              </a:rPr>
              <a:t>重生與版本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40280"/>
            <a:ext cx="16459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C76B50"/>
                </a:solidFill>
                <a:latin typeface="Calibri"/>
              </a:rPr>
              <a:t>主週報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59736"/>
            <a:ext cx="324612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40" b="0" i="0">
                <a:solidFill>
                  <a:srgbClr val="4F5B67"/>
                </a:solidFill>
                <a:latin typeface="Consolas"/>
              </a:rPr>
              <a:t>/big8_disk/liaoyoyo2001/
InterSubMod/docs/reports/
validated/2026/03/
20260311_研究主線週報_20260305_20260311_phase2_annotation整合_01.md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337560"/>
            <a:ext cx="16459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C76B50"/>
                </a:solidFill>
                <a:latin typeface="Calibri"/>
              </a:rPr>
              <a:t>phase 2 報告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557016"/>
            <a:ext cx="324612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40" b="0" i="0">
                <a:solidFill>
                  <a:srgbClr val="4F5B67"/>
                </a:solidFill>
                <a:latin typeface="Consolas"/>
              </a:rPr>
              <a:t>/big8_disk/liaoyoyo2001/
InterSubMod/docs/experiments/
in_progress/2026/03/
20260311_phase2_paired_raw與feature_interval_orthogonality分析_01.md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434840"/>
            <a:ext cx="16459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C76B50"/>
                </a:solidFill>
                <a:latin typeface="Calibri"/>
              </a:rPr>
              <a:t>annotation 報告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654296"/>
            <a:ext cx="324612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40" b="0" i="0">
                <a:solidFill>
                  <a:srgbClr val="4F5B67"/>
                </a:solidFill>
                <a:latin typeface="Consolas"/>
              </a:rPr>
              <a:t>/big8_disk/liaoyoyo2001/
InterSubMod/docs/experiments/
in_progress/2026/03/
20260311_phase2_finer_interval回接annotation_layer驗證_01.md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64608" y="2240280"/>
            <a:ext cx="20116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60" b="1" i="0">
                <a:solidFill>
                  <a:srgbClr val="C76B50"/>
                </a:solidFill>
                <a:latin typeface="Calibri"/>
              </a:rPr>
              <a:t>paired raw benchmark TSV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64608" y="2441448"/>
            <a:ext cx="2606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70" b="0" i="0">
                <a:solidFill>
                  <a:srgbClr val="4F5B67"/>
                </a:solidFill>
                <a:latin typeface="Consolas"/>
              </a:rPr>
              <a:t>/big8_disk/liaoyoyo2001/
InterSubMod_runs/output/
big8_disk_output/
research_rounds/
20260311_phase2_paired_…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64608" y="3657600"/>
            <a:ext cx="20116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60" b="1" i="0">
                <a:solidFill>
                  <a:srgbClr val="C76B50"/>
                </a:solidFill>
                <a:latin typeface="Calibri"/>
              </a:rPr>
              <a:t>annotation best policy TSV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64608" y="3858768"/>
            <a:ext cx="2606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70" b="0" i="0">
                <a:solidFill>
                  <a:srgbClr val="4F5B67"/>
                </a:solidFill>
                <a:latin typeface="Consolas"/>
              </a:rPr>
              <a:t>/big8_disk/liaoyoyo2001/
InterSubMod_runs/output/
big8_disk_output/
research_rounds/
20260311_phase2_annotat…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66175" y="2240280"/>
            <a:ext cx="16459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60" b="1" i="0">
                <a:solidFill>
                  <a:srgbClr val="C76B50"/>
                </a:solidFill>
                <a:latin typeface="Calibri"/>
              </a:rPr>
              <a:t>版本確認檔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6175" y="2468880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80" b="0" i="0">
                <a:solidFill>
                  <a:srgbClr val="4F5B67"/>
                </a:solidFill>
                <a:latin typeface="Consolas"/>
              </a:rPr>
              <a:t>20260311_研究主線週報_20260305_20260311_phase2_annotation整合_01.version.json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66175" y="2926080"/>
            <a:ext cx="10972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60" b="1" i="0">
                <a:solidFill>
                  <a:srgbClr val="C76B50"/>
                </a:solidFill>
                <a:latin typeface="Calibri"/>
              </a:rPr>
              <a:t>deck 入口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66175" y="3154680"/>
            <a:ext cx="27432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80" b="0" i="0">
                <a:solidFill>
                  <a:srgbClr val="4F5B67"/>
                </a:solidFill>
                <a:latin typeface="Consolas"/>
              </a:rPr>
              <a:t>20260311_研究主線週報_20260305_20260311_phase2_annotation整合_01.pptx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66175" y="3730752"/>
            <a:ext cx="12801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60" b="1" i="0">
                <a:solidFill>
                  <a:srgbClr val="C76B50"/>
                </a:solidFill>
                <a:latin typeface="Calibri"/>
              </a:rPr>
              <a:t>重生指令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66175" y="4005072"/>
            <a:ext cx="2788920" cy="1133856"/>
          </a:xfrm>
          <a:prstGeom prst="round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49056" y="4187952"/>
            <a:ext cx="233172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70" b="0" i="0">
                <a:solidFill>
                  <a:srgbClr val="F8F4EE"/>
                </a:solidFill>
                <a:latin typeface="Consolas"/>
              </a:rPr>
              <a:t>python build_weekly_report_pptx.py --config
20260311_weekly_report_pptx_config_01.json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11312" y="5358384"/>
            <a:ext cx="28803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80" b="0" i="0">
                <a:solidFill>
                  <a:srgbClr val="4F5B67"/>
                </a:solidFill>
                <a:latin typeface="Calibri"/>
              </a:rPr>
              <a:t>完整來源路徑請回查主週報與 version.json；本頁以可讀、可口頭報告的摘要形式呈現。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619963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4B5563"/>
                </a:solidFill>
                <a:latin typeface="Calibri"/>
              </a:rPr>
              <a:t>Generated from the validated weekly report and phase 2 / annotation outputs.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1722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4B5563"/>
                </a:solidFill>
                <a:latin typeface="Calibri"/>
              </a:rPr>
              <a:t>12/12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InterSubMod 研究主線整合週報</dc:title>
  <dc:subject>2026-03-05 至 2026-03-11，含 phase 2 與 annotation layer</dc:subject>
  <dc:creator>廖子游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