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【封面】
這頁目的：提供報告的基本定位與識別資訊。
口頭重點：本週報告覆蓋 3/5 至 3/11，核心新增是 phase 2 benchmark 與 annotation layer 回接，
最終確立三層框架（caller-first → methylation-support → annotation/QC）。
來源：docs/reports/validated/2026/03/20260311_研究主線週報_20260305_20260311_phase2_annotation整合_01.md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【大綱】
共 14 頁。從核心結論開始，依序鋪陳背景、目標、方法框架、數據證據（4 張），最後是待補齊事項、下一步與附錄。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【核心結論】
這頁目的：讓聽眾在 5 秒內知道本週最終定論。
三層框架：
  第一層 GQ/QUAL — 最穩定、跨 dataset 最一致（paired / TO 均成立）
  第二層甲基 support — TO 下成立但不超過 caller-only，paired 因 coverage ceiling 結論保守
  第三層 annotation — 制度化標記，讓分析層訊號可被後續工作使用
4 個核心證據：paired pure F1 增益、candidate-specific rescue、coverage ceiling、annotation best policy
關鍵限制：GQ 仍是 caller 自身的信心分數，用它 rescue 本質上是放寬 caller threshold，非 InterSubMod 獨立甲基貢獻。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【研究背景】
InterSubMod 的核心作用是把 somatic caller / phasing / 甲基資訊整合，回答兩個問題：救什麼（TP rescue）、排除什麼（artifact triage）。
三個場景中，paired 是最穩定的主驗證環境，TO 是甲基 rescue 空間最大的場景（coverage 完整），mixed purity 本週延後。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【本週目標】
6 個主目標中 4 個 100%，2 個 90%。
90% 的兩項：
  phase 2 benchmark — TO 的 pileup vs full 雙模型對照尚未補齊
  annotation layer 回接 — policy 已完成，但尚未接到 dashboard / round summary
文件制度化 100%：之後可用 Agent/skills 流程持續追蹤。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【特徵定位表】
GQ：最穩定，但本質是 caller 信心分數，用它 rescue = 放寬 caller threshold。
Quality_Score：兩個 TO dataset 都有正向，適合作為 support annotation。
PairwiseMedianDist：5kHz TO &gt;=0.20 有效，DORADO TO &lt;=0.20 有效，方向相反。
→ 這意味著 Pairwise 不是穩定的生物學訊號，而是 dataset-specific 結構/noise 代理。
hp_assign_rate：TP/FP 在 TO 場景幾乎都達 1.0，無鑑別力，降階為 QC 標記。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【Paired Pure Benchmark】
5kHz 增益幅度不大（+0.001），但來源清楚：削 83 個 FP，而非大量救 TP。
DORADO 幾乎持平，可能因為 DORADO base quality 更好，甲基整合空間小。
這也說明為什麼後續主力轉向 TO 場景做 rescue 驗證。
數據來源：20260307_純樣本round執行與進度報告_01.md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【Candidate-Specific Rescue】
5kHz TO：甲基 support 成立。最佳 caller gate（qual&gt;=10 or gq&gt;=20）+491 TP/118 FP，F1+0.006824。
  gq&gt;=10 + Pairwise&gt;=0.20 有效（+0.004219）；agreement_positive 也有正向（+0.002163）。
DORADO TO：也有正向 support，但 Pairwise 最佳方向相反（&lt;=0.20），代表 Pairwise 是 dataset-specific 訊號。
DORADO paired：兩條甲基規則都負效果。但需參照 coverage ceiling 解讀（下一頁）。
數據來源：20260308_HCC1395_5kHz_TO_candidate_specific甲基rescue驗證_01.md 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【Coverage Ceiling】
關鍵：paired 只有 8~20% 的 candidate-specific methylation coverage，TO 有 87~100%。
因此 paired 的「甲基無效」可能部分源自覆蓋率不足，而非甲基訊號本身無效。
TO 的 coverage 幾乎完整，因此 TO 的 support/non-support 結論更可信。
DORADO TO 用了 candidate-window subset BAM + subset haplotag 方法，避免生成 200G+ full BAM。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【Phase 2 Raw Benchmark】
核心問題：raw pileup/full 有多少額外 recall？precision 代價是多少？
5kHz：raw pileup +730 TP，但 FP 增加 6020（5× 倍增），F1 從 0.844 掉到 0.790。
DORADO：raw model FP 增加量相對較小（pileup +1644 FP），F1 從 0.856 降到 0.851，幅度小很多。
這反映 DORADO caller 本身更精確，raw 的噪音較少。
未來方向：用 raw 的額外 TP 作為 candidate pool 做 candidate-specific rescue，可能比直接拿 raw 輸出更合適。
數據來源：phase2_paired_model_feature_analysis/ 目錄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【Annotation Layer】
四個象限的最佳 policy 都是 caller-primary 或 caller-strict，說明 annotation 的 best case 仍以 caller gate 為主。
但 annotation 的價值不在於取代 caller，而是把有效但不穩定的訊號制度化：
  1. 區間訊號穩定輸出
  2. 人工審閱效率提高
  3. 三種標記（support/QC/artifact）讓跨 dataset 解讀更清晰
數據來源：annotation_best_policy.tsv（研究輸出目錄）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【待補齊事項】
優先順序：
  高（coverage ceiling）— 影響結論的可信度邊界
  中（TO 雙模型 + annotation 接入）— 影響研究速度和可重複性
  低（Pool B FN + 統計顯著性）— 完整性和可重複性改進
最高優先動作：annotation layer 接入整合矩陣（對下一步直接可行）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【下一步建議】
P1（最優先，兩項）：
  1. Annotation layer 接入 — 最直接可行的落地行動。
  2. TO annotation ranking — 驗證 annotation score 能否提升排序品質。
P2：先量化 paired coverage ceiling 問題規模，再決定是否繼續深挖。
P3：artifact triage 維持支線，不與主線混用。
核心原則：先做 annotation export，再做更大範圍的 cross-dataset ranking 驗證，不急著改 hard rule。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【附錄路徑】
所有路徑均為絕對路徑，可直接在 /big8_disk/liaoyoyo2001/ 環境下查閱。
主報告是本週 PPTX 的直接來源文件。
Phase 2 分析 + Annotation 驗證是本週兩個最新實驗文件。
四象限整合報告整合了 5kHz TO / DORADO TO / DORADO paired 三個象限的 rescue 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0" y="18288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週報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InterSubMod 研究主線整合週報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InterSubMod Weekly Research Report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38912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8716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2026-03-05 至 2026-03-11　Phase 2 Annotation 整合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廖子游　2026-03-11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本週報告大綱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 Agenda — 14 Slides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88136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8813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1115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核心結論：三層框架已收斂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55064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5506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" y="16824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研究背景與場景定義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2199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" y="2249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本週主要目標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788920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8892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" y="2816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三層框架：特徵定位表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355848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558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" y="3383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Paired Pure Benchmark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922776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22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" y="3950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Candidate-Specific Rescue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088136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8813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84648" y="1115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Coverage Ceiling 解讀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655064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65506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84648" y="16824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2 Raw Benchmark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2221992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22199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84648" y="2249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Annotation Layer 最佳策略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2788920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78892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84648" y="2816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待補齊事項與限制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9160" y="3355848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3558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84648" y="3383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下一步建議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09160" y="3922776"/>
            <a:ext cx="402336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922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84648" y="3950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附錄路徑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核心結論：三層框架已收斂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Three-Tier Framework Established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2606040"/>
          </a:xfrm>
          <a:prstGeom prst="rect">
            <a:avLst/>
          </a:prstGeom>
          <a:solidFill>
            <a:srgbClr val="1A2A5E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" y="1618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Caller-First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3776" y="1883664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GQ / QUAL gate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最穩定、跨 dataset 一致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最佳 rescue 的守門條件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097280"/>
            <a:ext cx="2697480" cy="2606040"/>
          </a:xfrm>
          <a:prstGeom prst="rect">
            <a:avLst/>
          </a:prstGeom>
          <a:solidFill>
            <a:srgbClr val="1A2A5E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097280"/>
            <a:ext cx="2697480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8E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第二層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46704" y="1618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Methylation-Support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46704" y="1883664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Quality_Score / Pairwise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agreement_positive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TO 下有真實正向 support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097280"/>
            <a:ext cx="2697480" cy="2606040"/>
          </a:xfrm>
          <a:prstGeom prst="rect">
            <a:avLst/>
          </a:prstGeom>
          <a:solidFill>
            <a:srgbClr val="1A2A5E"/>
          </a:solidFill>
          <a:ln w="25400">
            <a:solidFill>
              <a:srgbClr val="5E35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097280"/>
            <a:ext cx="2697480" cy="10972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35B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第三層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99632" y="1618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/ QC / Triage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99632" y="1883664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hp_assign / artifact-veto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dataset-aware 標記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制度化分析層，不做 hard rule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3977640"/>
            <a:ext cx="9144000" cy="1170432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977640"/>
            <a:ext cx="109728" cy="1170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995928"/>
            <a:ext cx="8778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甲基訊號在 TO 場景下有真實 support 價值，但最穩定的 rescue 仍在 caller 端（GQ/QUAL gate）。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annotation layer 已定型為第三層制度化框架。下一步是 annotation export，不是改 hard filter。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研究背景：InterSubMod 的核心問題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Context: What InterSubMod Addresses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InterSubMod 整合三種資訊來源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92608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3898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somatic caller 的輸出（PASS 與 non-PASS 邊緣）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292608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9202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LongPhase 的 phase / haplotag 結果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292608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450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read-level 甲基距離、label / cluster 訊號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回答兩件事：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246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哪些 caller 邊緣位點其實是 TP，值得救回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6301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哪些位點雖有結構訊號，但更像 artifact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024128"/>
            <a:ext cx="0" cy="384048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本週三個核心場景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389888"/>
            <a:ext cx="4114800" cy="841248"/>
          </a:xfrm>
          <a:prstGeom prst="rect">
            <a:avLst/>
          </a:prstGeom>
          <a:solidFill>
            <a:srgbClr val="E8F5FE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tumor-normal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1737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配對腫瘤/正常樣本　主驗證場景（最穩定）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340864"/>
            <a:ext cx="4114800" cy="841248"/>
          </a:xfrm>
          <a:prstGeom prst="rect">
            <a:avLst/>
          </a:prstGeom>
          <a:solidFill>
            <a:srgbClr val="E8F5FE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tumor-only (TO)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46320" y="26883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僅腫瘤樣本　驗證 borderline rescue（最有甲基空間）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291840"/>
            <a:ext cx="4114800" cy="841248"/>
          </a:xfrm>
          <a:prstGeom prst="rect">
            <a:avLst/>
          </a:prstGeom>
          <a:solidFill>
            <a:srgbClr val="ECEFF1"/>
          </a:solidFill>
          <a:ln w="19050">
            <a:solidFill>
              <a:srgbClr val="546E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46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purity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0" y="36393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混和純度樣本　已延後，不是本週主證據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本週主要目標與完成度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Goals &amp; Completion Status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822960"/>
                <a:gridCol w="3749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主目標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子目標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完成度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本週結論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paired pure 正式重跑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&amp; DORADO 新版欄位 rerun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有正增益，DORADO 幾乎持平略負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TO 主流程打通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ClairS-TO → LongPhase-TO → InterSubMod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TO pipeline 已可重跑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candidate-specific rescue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TO、DORADO paired、DORADO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TO 甲基 support 成立，不超過 caller-only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phase 2 benchmark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raw pileup/full 對照、finer interval、orthogonality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B69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paired 已有定論，TO 雙模型尚未補齊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annotation layer 回接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phase 2 結果回接 analysis-layer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B69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policy 已完成，dashboard 整合尚未完成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文件制度化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Agent / skills / 週報流程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可持續用同一套格式追蹤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三層框架：各特徵定位與使用限制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Role Definitions in the Three-Tier Framework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8595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45920"/>
                <a:gridCol w="260604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特徵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定位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已驗證的意義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不該怎麼用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GQ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caller-first 主規則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最穩定、跨 dataset 最一致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不可解讀成 caller 應全面放寬；仍是 caller-side ranking 訊號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Quality_Score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support annotation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兩個 TO dataset 都有正向 support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不可直接 hard keep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PairwiseMedianDist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dataset-aware support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TO 偏高、DORADO TO 偏低（方向相反）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不可升級成跨樣本全域規則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agreement_positive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TO label-support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比單純 Strong/Subclone 更乾淨的 label 訊號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不可當所有 dataset 通用 support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hp_assign_rate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phase/QC annotation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反映 HP 可分派性與相位完整度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不宜當 truth-level keep 規則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low VAF+high AD+low CV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artifact triage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在 5kHz 對刪 FP 有實際價值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不應拿來做 TP rescue 主規則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Paired Pure Rerun：兩平台正式 Benchmark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HCC1395 5kHz / DORADO Paired Pure Benchmark Results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85953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600200"/>
                <a:gridCol w="960120"/>
                <a:gridCol w="960120"/>
                <a:gridCol w="960120"/>
                <a:gridCol w="17830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Dataset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Method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TP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FP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FN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F1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 5kHz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ClairS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 5kHz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LongPhase-S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 5kHz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InterSubMod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HCC1395_DORADO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ClairS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HCC1395_DORADO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LongPhase-S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HCC1395_DORADO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InterSubMod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5kHz：InterSubMod F1=0.8532 &gt; LongPhase-S 0.8522（+0.0010）。增益主要來自削 FP：627→544（-83），TP 僅少 2。在最 noisy 的場景有小幅但真實的 precision 改善。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04164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DORADO：InterSubMod 0.8590 ≈ LongPhase-S 0.8592，幾乎持平略負。DORADO 本身精確度已高，甲基整合邊際效益小。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442569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結論：5kHz 是主要 study dataset；同一套規則在 DORADO 可攜性受限，後續結論均需 cross-platform 驗證。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Candidate-Specific Rescue：甲基 Support 四象限驗證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Candidate-Specific Methylation Rescue Across 4 Quadrants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48840"/>
                <a:gridCol w="621792"/>
                <a:gridCol w="621792"/>
                <a:gridCol w="804672"/>
                <a:gridCol w="302666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Dataset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Rule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TP↑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FP↑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ΔF1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判讀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qual&gt;=10 or gq&gt;=20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+0.006824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caller-only 最佳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gq&gt;=10 + Pairwise&gt;=0.20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+0.004219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甲基 support 有效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gq&gt;=10 + agreement_positive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+0.002163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label/cluster 交叉訊號有價值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DORADO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gq&gt;=10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+0.000540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caller-only 最佳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DORADO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gq&gt;=10 + Quality&gt;=60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+0.000476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有正向 support，未超過 caller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DORADO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gq&gt;=10 + Pairwise&lt;=0.20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9A82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方向與 5kHz TO 相反（⚠）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gq&gt;=15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+0.000502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caller-first 成立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gq&gt;=10 + Pairwise&gt;=0.20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-0.000280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甲基 support 不成立（⚠）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gq&gt;=10 + agreement_positive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-0.000298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甲基 support 不成立（⚠）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242816"/>
            <a:ext cx="8595360" cy="621792"/>
          </a:xfrm>
          <a:prstGeom prst="rect">
            <a:avLst/>
          </a:prstGeom>
          <a:solidFill>
            <a:srgbClr val="E3EC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261104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注意：各行 delta F1 來自不同評估框架（複合規則 / GQ sweep / annotation policy），數值不可直接跨行比較。  paired 結論保守（Coverage Ceiling 見下頁）。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Coverage Ceiling：為何 Paired 結論要保守？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Paired Methylation Results Should Be Interpreted Conservatively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3931920" cy="1645920"/>
          </a:xfrm>
          <a:prstGeom prst="rect">
            <a:avLst/>
          </a:prstGeom>
          <a:solidFill>
            <a:srgbClr val="FFF8E1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~ 20%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Paired 的 candidate-specific 甲基 coverage 上限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24128"/>
            <a:ext cx="3931920" cy="1645920"/>
          </a:xfrm>
          <a:prstGeom prst="rect">
            <a:avLst/>
          </a:prstGeom>
          <a:solidFill>
            <a:srgbClr val="E0F2F1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97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~ 100%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709160" y="19933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 的 candidate-specific 甲基 coverage 上限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16352"/>
          <a:ext cx="8595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691640"/>
                <a:gridCol w="3429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Dataset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Lost TP coverage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Removed FP coverage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解讀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 5kHz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A8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A8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coverage ceiling 偏低，甲基無效結論需保守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HCC1395_DORADO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A8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A8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coverage ceiling 更低，不能解讀成 paired 無甲基價值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 5kHz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87.32%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TO coverage 足夠，support 結論較可信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HCC1395_DORADO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TO coverage 完整，可直接判讀 support 關係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2：Paired Raw Pileup/Full 直接 Benchmark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Raw Caller Models vs Merged Output Benchmark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8595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914400"/>
                <a:gridCol w="914400"/>
                <a:gridCol w="9144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Dataset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Source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TP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FP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FN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F1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raw pileup_filter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0.789630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raw full_alignment_filter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0.742164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5kHz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merged output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0.844336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raw pileup_filter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0.851043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raw full_alignment_filter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0.854455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merged output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0.856486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Raw caller 確有額外 recall：5kHz pileup TP=30595 vs merged 29865（+730 TP），DORADO pileup +886 TP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04164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 precision 代價極大：5kHz pileup FP=7450 vs merged 1430（5× 以上），F1 從 0.844 降至 0.790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442569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結論：paired 場景下，raw pileup/full 不適合當最終輸出；但可考慮用 raw 的額外 TP 作為 rescue candidate pool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Annotation Layer：最佳策略已定型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Layer: Best Policy by Dataset &amp; Its Value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137160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Dataset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Best Policy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ΔF1 vs baseline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判讀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 5kHz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caller_primary_only (gq&gt;=10)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+0.006754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annotation 有價值，但沒超過 caller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 5kHz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caller_primary_only (gq&gt;=15)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+0.000873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paired 仍由 caller 主導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HCC1395_DORADO paired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caller_strict_only (gq&gt;=20)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+0.000635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更嚴格 caller gate 最佳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HCC1395_DORADO TO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caller_primary_only (gq&gt;=10)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+0.000540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annotation 幾乎追平，但仍略低</a:t>
                      </a:r>
                      <a:endParaRPr lang="en-US" sz="10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4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761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Annotation Layer 的真正制度化價值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0040" y="31272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 Quality_Score [55,60)、Pairwise dataset-specific top-bin 等區間訊號可被穩定輸出，不需每次重算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20040" y="3657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讓後續報告與人工審閱能直接判讀「此位點是否落在驗證過的 support 帶」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0040" y="41879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7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 cross-dataset 解讀時能明確區分：support（甲基正向）/ QC（HP 完整度）/ artifact（低 VAF+高 AD+低 CV）三種標記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目前尚缺與待補齊事項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Research Gaps &amp; Limitations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88136"/>
            <a:ext cx="402336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0881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[高]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14300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Paired Coverage Ceiling 尚未量化呈現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1417320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paired 的 candidate-specific coverage 僅 8~20%，「甲基無效」結論需保守解讀；需補量化數字到主報告正文而非只放在 caveat 段。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402336" cy="40233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17556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A82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[中]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810512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 雙模型（Pileup/Full）尚未對比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208483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 TO 結論完全以 pileup 路線為主，full model 在 TO 場景的表現尚未測試，存在未知的 model 差異。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402336" cy="40233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24231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A82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[中]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247802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Annotation Layer 尚未接入整合輸出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2752344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policy evaluation 已完成，但尚未正式接到：dashboard / round summary / candidate diagnostics 統一輸出欄位。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402336" cy="40233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3090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[低]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3145536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Pool B FN 探勘結論尚未納入主報告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9808" y="3419856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ClairS non-PASS FN 確有可研究空間，但甲基不適合單獨作為 Pool B rescue 主規則，結論尚未整合進本週主線敘事。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758184"/>
            <a:ext cx="402336" cy="40233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37581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[低]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" y="3813048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F1 delta 統計顯著性未驗證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9808" y="40873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多數增益在第 4 位小數（+0.001~+0.007），未做 bootstrap 95% CI 或多重比較校正，難以區分真實增益與隨機波動。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下一步建議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 — Priority Actions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417320"/>
          </a:xfrm>
          <a:prstGeom prst="rect">
            <a:avLst/>
          </a:prstGeom>
          <a:solidFill>
            <a:srgbClr val="1A2A5E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197864"/>
            <a:ext cx="475488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9786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42416" y="1197864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Annotation Layer 接入整合矩陣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545336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把本輪 annotation layer 結果正式接到 round summary / candidate diagnostics 統一輸出，不急著改 core filter。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023360" cy="1417320"/>
          </a:xfrm>
          <a:prstGeom prst="rect">
            <a:avLst/>
          </a:prstGeom>
          <a:solidFill>
            <a:srgbClr val="1A2A5E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06040"/>
            <a:ext cx="402336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2752344"/>
            <a:ext cx="475488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752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42416" y="2752344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 Annotation Score/Ranking 實驗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" y="3099816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 TO 路線優先做 annotation ranking 實驗，驗證是否能改善人工審閱效率與候選排序品質。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023360" cy="1417320"/>
          </a:xfrm>
          <a:prstGeom prst="rect">
            <a:avLst/>
          </a:prstGeom>
          <a:solidFill>
            <a:srgbClr val="1A2A5E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51560"/>
            <a:ext cx="4023360" cy="91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82896" y="1197864"/>
            <a:ext cx="475488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119786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31536" y="1197864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Paired Coverage Ceiling 量化補充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82896" y="1545336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若要繼續深挖 paired，先補 coverage ceiling 的量化呈現，再決定是否試新甲基規則。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606040"/>
            <a:ext cx="4023360" cy="1417320"/>
          </a:xfrm>
          <a:prstGeom prst="rect">
            <a:avLst/>
          </a:prstGeom>
          <a:solidFill>
            <a:srgbClr val="1A2A5E"/>
          </a:solidFill>
          <a:ln w="25400">
            <a:solidFill>
              <a:srgbClr val="5E35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606040"/>
            <a:ext cx="4023360" cy="914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82896" y="2752344"/>
            <a:ext cx="475488" cy="2743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752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31536" y="2752344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Artifact Triage 維持支線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82896" y="3099816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artifact_lowvaf_highad_lowcv 維持 triage 支線，不與 rescue 主線混用。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附錄：來源文件與數據路徑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Source Documents &amp; Data Output Paths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23544"/>
            <a:ext cx="8686800" cy="0"/>
          </a:xfrm>
          <a:prstGeom prst="line">
            <a:avLst/>
          </a:prstGeom>
          <a:noFill/>
          <a:ln w="9525">
            <a:solidFill>
              <a:srgbClr val="90A4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14984"/>
            <a:ext cx="8631936" cy="384048"/>
          </a:xfrm>
          <a:prstGeom prst="rect">
            <a:avLst/>
          </a:prstGeom>
          <a:solidFill>
            <a:srgbClr val="F0F5FF"/>
          </a:solidFill>
          <a:ln w="3810">
            <a:solidFill>
              <a:srgbClr val="90A4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主報告：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05156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...s/reports/validated/2026/03/20260311_研究主線週報_20260305_20260311_phase2_annotation整合_01.md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1435608"/>
            <a:ext cx="8631936" cy="384048"/>
          </a:xfrm>
          <a:prstGeom prst="rect">
            <a:avLst/>
          </a:prstGeom>
          <a:solidFill>
            <a:srgbClr val="E3ECFF"/>
          </a:solidFill>
          <a:ln w="3810">
            <a:solidFill>
              <a:srgbClr val="90A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2 分析：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4721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...s/in_progress/2026/03/20260311_phase2_paired_raw與feature_interval_orthogonality分析_01.md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856232"/>
            <a:ext cx="8631936" cy="384048"/>
          </a:xfrm>
          <a:prstGeom prst="rect">
            <a:avLst/>
          </a:prstGeom>
          <a:solidFill>
            <a:srgbClr val="F0F5FF"/>
          </a:solidFill>
          <a:ln w="3810">
            <a:solidFill>
              <a:srgbClr val="90A4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Annotation 驗證：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189280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...xperiments/in_progress/2026/03/20260311_phase2_finer_interval回接annotation_layer驗證_01.md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276856"/>
            <a:ext cx="8631936" cy="384048"/>
          </a:xfrm>
          <a:prstGeom prst="rect">
            <a:avLst/>
          </a:prstGeom>
          <a:solidFill>
            <a:srgbClr val="E3ECFF"/>
          </a:solidFill>
          <a:ln w="3810">
            <a:solidFill>
              <a:srgbClr val="90A4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04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四象限整合報告：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31343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...o2001/InterSubMod/docs/reports/validated/2026/03/20260311_HCC1395_四象限甲基rescue整合報告_01.md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697480"/>
            <a:ext cx="8631936" cy="384048"/>
          </a:xfrm>
          <a:prstGeom prst="rect">
            <a:avLst/>
          </a:prstGeom>
          <a:solidFill>
            <a:srgbClr val="F0F5FF"/>
          </a:solidFill>
          <a:ln w="3810">
            <a:solidFill>
              <a:srgbClr val="90A4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24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2 輸出目錄：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27340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.../output/big8_disk_output/research_rounds/20260311_phase2_paired_model_feature_analysis/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118104"/>
            <a:ext cx="8631936" cy="384048"/>
          </a:xfrm>
          <a:prstGeom prst="rect">
            <a:avLst/>
          </a:prstGeom>
          <a:solidFill>
            <a:srgbClr val="E3ECFF"/>
          </a:solidFill>
          <a:ln w="3810">
            <a:solidFill>
              <a:srgbClr val="90A4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Annotation 輸出目錄：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31546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...erSubMod_runs/output/big8_disk_output/research_rounds/20260311_phase2_annotation_layer/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538728"/>
            <a:ext cx="8631936" cy="384048"/>
          </a:xfrm>
          <a:prstGeom prst="rect">
            <a:avLst/>
          </a:prstGeom>
          <a:solidFill>
            <a:srgbClr val="F0F5FF"/>
          </a:solidFill>
          <a:ln w="3810">
            <a:solidFill>
              <a:srgbClr val="90A4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566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Policy Evaluation TSV：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357530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...utput/research_rounds/20260311_phase2_annotation_layer/annotation_policy_evaluation.tsv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3959352"/>
            <a:ext cx="8631936" cy="384048"/>
          </a:xfrm>
          <a:prstGeom prst="rect">
            <a:avLst/>
          </a:prstGeom>
          <a:solidFill>
            <a:srgbClr val="E3ECFF"/>
          </a:solidFill>
          <a:ln w="3810">
            <a:solidFill>
              <a:srgbClr val="90A4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867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Best Policy TSV：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399592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...disk_output/research_rounds/20260311_phase2_annotation_layer/annotation_best_policy.tsv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4379976"/>
            <a:ext cx="8631936" cy="384048"/>
          </a:xfrm>
          <a:prstGeom prst="rect">
            <a:avLst/>
          </a:prstGeom>
          <a:solidFill>
            <a:srgbClr val="F0F5FF"/>
          </a:solidFill>
          <a:ln w="3810">
            <a:solidFill>
              <a:srgbClr val="90A4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407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Presence Summary TSV：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165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...output/research_rounds/20260311_phase2_annotation_layer/annotation_presence_summary.tsv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InterSubMod 研究主線整合週報 2026-03-05 至 2026-03-11</dc:title>
  <dc:subject>PptxGenJS Presentation</dc:subject>
  <dc:creator>廖子游</dc:creator>
  <cp:lastModifiedBy>廖子游</cp:lastModifiedBy>
  <cp:revision>1</cp:revision>
  <dcterms:created xsi:type="dcterms:W3CDTF">2026-03-11T15:56:03Z</dcterms:created>
  <dcterms:modified xsi:type="dcterms:W3CDTF">2026-03-11T15:56:03Z</dcterms:modified>
</cp:coreProperties>
</file>