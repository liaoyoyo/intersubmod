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502920"/>
            <a:ext cx="5120640" cy="5577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CC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cover_her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777240"/>
            <a:ext cx="4663440" cy="48006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897880" y="868680"/>
            <a:ext cx="2103120" cy="201168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100" b="1" i="0">
                <a:solidFill>
                  <a:srgbClr val="C76B50"/>
                </a:solidFill>
                <a:latin typeface="Arial"/>
              </a:rPr>
              <a:t>InterSubMod 研究週報簡報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0" y="1234440"/>
            <a:ext cx="5440680" cy="105156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 i="0">
                <a:solidFill>
                  <a:srgbClr val="17202A"/>
                </a:solidFill>
                <a:latin typeface="Noto Sans TC Bold"/>
              </a:rPr>
              <a:t>InterSubMod 研究主線整合週報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70448" y="2304288"/>
            <a:ext cx="2926080" cy="201168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200" b="1" i="0">
                <a:solidFill>
                  <a:srgbClr val="C76B50"/>
                </a:solidFill>
                <a:latin typeface="Arial Bold"/>
              </a:rPr>
              <a:t>Weekly Research Review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70448" y="2596896"/>
            <a:ext cx="5303520" cy="384048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400" b="0" i="0">
                <a:solidFill>
                  <a:srgbClr val="5E6572"/>
                </a:solidFill>
                <a:latin typeface="Noto Sans TC"/>
              </a:rPr>
              <a:t>2026-03-05 至 2026-03-11，含 phase 2 與 annotation layer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852160" y="3154680"/>
            <a:ext cx="5394960" cy="914400"/>
          </a:xfrm>
          <a:prstGeom prst="roundRect">
            <a:avLst/>
          </a:prstGeom>
          <a:solidFill>
            <a:srgbClr val="1E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08192" y="3410712"/>
            <a:ext cx="4846320" cy="420624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550" b="1" i="0">
                <a:solidFill>
                  <a:srgbClr val="F8F4EE"/>
                </a:solidFill>
                <a:latin typeface="Noto Sans TC Bold"/>
              </a:rPr>
              <a:t>主結論已收斂為：caller-first、methylation-support、annotation / QC / artifact triage 三層分工。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70448" y="4663440"/>
            <a:ext cx="2560320" cy="18288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100" b="0" i="0">
                <a:solidFill>
                  <a:srgbClr val="5E6572"/>
                </a:solidFill>
                <a:latin typeface="Noto Sans TC"/>
              </a:rPr>
              <a:t>報告整理時間｜2026-03-11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70448" y="4873752"/>
            <a:ext cx="1463040" cy="164592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000" b="0" i="0">
                <a:solidFill>
                  <a:srgbClr val="C76B50"/>
                </a:solidFill>
                <a:latin typeface="Arial"/>
              </a:rPr>
              <a:t>Report 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0" y="4663440"/>
            <a:ext cx="2103120" cy="18288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100" b="0" i="0">
                <a:solidFill>
                  <a:srgbClr val="5E6572"/>
                </a:solidFill>
                <a:latin typeface="Noto Sans TC"/>
              </a:rPr>
              <a:t>報告人｜廖子游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0" y="4873752"/>
            <a:ext cx="1280160" cy="164592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000" b="0" i="0">
                <a:solidFill>
                  <a:srgbClr val="C76B50"/>
                </a:solidFill>
                <a:latin typeface="Arial"/>
              </a:rPr>
              <a:t>Presenter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70448" y="5669280"/>
            <a:ext cx="4937760" cy="237744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880" b="0" i="0">
                <a:solidFill>
                  <a:srgbClr val="52606D"/>
                </a:solidFill>
                <a:latin typeface="Arial"/>
              </a:rPr>
              <a:t>20260311_研究主線週報_20260305_20260311_phase2_annotation整合_01.md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6409944"/>
            <a:ext cx="813816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60" b="0" i="0">
                <a:solidFill>
                  <a:srgbClr val="52606D"/>
                </a:solidFill>
                <a:latin typeface="Arial"/>
              </a:rPr>
              <a:t>InterSubMod weekly research review deck rebuilt for oral presentation.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18520" y="6391656"/>
            <a:ext cx="4572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52606D"/>
                </a:solidFill>
                <a:latin typeface="Arial"/>
              </a:rPr>
              <a:t>1/14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E6D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8961120" cy="530352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2500" b="1" i="0">
                <a:solidFill>
                  <a:srgbClr val="17202A"/>
                </a:solidFill>
                <a:latin typeface="Noto Sans TC Bold"/>
              </a:rPr>
              <a:t>報告大綱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896112"/>
            <a:ext cx="8412480" cy="201168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100" b="0" i="0">
                <a:solidFill>
                  <a:srgbClr val="C76B50"/>
                </a:solidFill>
                <a:latin typeface="Arial"/>
              </a:rPr>
              <a:t>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143000"/>
            <a:ext cx="10424160" cy="310896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300" b="0" i="0">
                <a:solidFill>
                  <a:srgbClr val="5E6572"/>
                </a:solidFill>
                <a:latin typeface="Noto Sans TC"/>
              </a:rPr>
              <a:t>本次簡報共 14 頁，分成 6 個主題，先架構後證據再下一步。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783080"/>
            <a:ext cx="4983480" cy="10241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CC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60120" y="1947672"/>
            <a:ext cx="566928" cy="548640"/>
          </a:xfrm>
          <a:prstGeom prst="roundRect">
            <a:avLst/>
          </a:prstGeom>
          <a:solidFill>
            <a:srgbClr val="1E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78992" y="2084831"/>
            <a:ext cx="256032" cy="146304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ctr"/>
            <a:r>
              <a:rPr sz="1100" b="1" i="0">
                <a:solidFill>
                  <a:srgbClr val="F8F4EE"/>
                </a:solidFill>
                <a:latin typeface="Arial Bold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91640" y="1947672"/>
            <a:ext cx="3566160" cy="201168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500" b="1" i="0">
                <a:solidFill>
                  <a:srgbClr val="17202A"/>
                </a:solidFill>
                <a:latin typeface="Noto Sans TC Bold"/>
              </a:rPr>
              <a:t>破題結論與主架構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2240280"/>
            <a:ext cx="3749039" cy="164592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000" b="0" i="0">
                <a:solidFill>
                  <a:srgbClr val="C76B50"/>
                </a:solidFill>
                <a:latin typeface="Arial"/>
              </a:rPr>
              <a:t>Opening thesis and framework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46520" y="1783080"/>
            <a:ext cx="4983480" cy="10241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CC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629400" y="1947672"/>
            <a:ext cx="566928" cy="548640"/>
          </a:xfrm>
          <a:prstGeom prst="roundRect">
            <a:avLst/>
          </a:prstGeom>
          <a:solidFill>
            <a:srgbClr val="1E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48272" y="2084831"/>
            <a:ext cx="256032" cy="146304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ctr"/>
            <a:r>
              <a:rPr sz="1100" b="1" i="0">
                <a:solidFill>
                  <a:srgbClr val="F8F4EE"/>
                </a:solidFill>
                <a:latin typeface="Arial Bold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60920" y="1947672"/>
            <a:ext cx="3566160" cy="201168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500" b="1" i="0">
                <a:solidFill>
                  <a:srgbClr val="17202A"/>
                </a:solidFill>
                <a:latin typeface="Noto Sans TC Bold"/>
              </a:rPr>
              <a:t>資料四象限與研究推進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60920" y="2240280"/>
            <a:ext cx="3749039" cy="164592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000" b="0" i="0">
                <a:solidFill>
                  <a:srgbClr val="C76B50"/>
                </a:solidFill>
                <a:latin typeface="Arial"/>
              </a:rPr>
              <a:t>Study matrix and weekly milestones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3200400"/>
            <a:ext cx="4983480" cy="10241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CC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960120" y="3364992"/>
            <a:ext cx="566928" cy="548640"/>
          </a:xfrm>
          <a:prstGeom prst="roundRect">
            <a:avLst/>
          </a:prstGeom>
          <a:solidFill>
            <a:srgbClr val="1E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78992" y="3502152"/>
            <a:ext cx="256032" cy="146304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ctr"/>
            <a:r>
              <a:rPr sz="1100" b="1" i="0">
                <a:solidFill>
                  <a:srgbClr val="F8F4EE"/>
                </a:solidFill>
                <a:latin typeface="Arial Bold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91640" y="3364992"/>
            <a:ext cx="3566160" cy="201168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500" b="1" i="0">
                <a:solidFill>
                  <a:srgbClr val="17202A"/>
                </a:solidFill>
                <a:latin typeface="Noto Sans TC Bold"/>
              </a:rPr>
              <a:t>paired / TO 核心結果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91640" y="3657600"/>
            <a:ext cx="3749039" cy="164592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000" b="0" i="0">
                <a:solidFill>
                  <a:srgbClr val="C76B50"/>
                </a:solidFill>
                <a:latin typeface="Arial"/>
              </a:rPr>
              <a:t>Paired and tumor-only results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46520" y="3200400"/>
            <a:ext cx="4983480" cy="10241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CC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629400" y="3364992"/>
            <a:ext cx="566928" cy="548640"/>
          </a:xfrm>
          <a:prstGeom prst="roundRect">
            <a:avLst/>
          </a:prstGeom>
          <a:solidFill>
            <a:srgbClr val="1E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748272" y="3502152"/>
            <a:ext cx="256032" cy="146304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ctr"/>
            <a:r>
              <a:rPr sz="1100" b="1" i="0">
                <a:solidFill>
                  <a:srgbClr val="F8F4EE"/>
                </a:solidFill>
                <a:latin typeface="Arial Bold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60920" y="3364992"/>
            <a:ext cx="3566160" cy="201168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500" b="1" i="0">
                <a:solidFill>
                  <a:srgbClr val="17202A"/>
                </a:solidFill>
                <a:latin typeface="Noto Sans TC Bold"/>
              </a:rPr>
              <a:t>特徵定位與 phase 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60920" y="3657600"/>
            <a:ext cx="3749039" cy="164592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000" b="0" i="0">
                <a:solidFill>
                  <a:srgbClr val="C76B50"/>
                </a:solidFill>
                <a:latin typeface="Arial"/>
              </a:rPr>
              <a:t>Feature roles and phase-2 benchmark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77240" y="4617720"/>
            <a:ext cx="4983480" cy="10241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CC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960120" y="4782312"/>
            <a:ext cx="566928" cy="548640"/>
          </a:xfrm>
          <a:prstGeom prst="roundRect">
            <a:avLst/>
          </a:prstGeom>
          <a:solidFill>
            <a:srgbClr val="1E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78992" y="4919472"/>
            <a:ext cx="256032" cy="146304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ctr"/>
            <a:r>
              <a:rPr sz="1100" b="1" i="0">
                <a:solidFill>
                  <a:srgbClr val="F8F4EE"/>
                </a:solidFill>
                <a:latin typeface="Arial Bold"/>
              </a:rP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691640" y="4782312"/>
            <a:ext cx="3566160" cy="201168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500" b="1" i="0">
                <a:solidFill>
                  <a:srgbClr val="17202A"/>
                </a:solidFill>
                <a:latin typeface="Noto Sans TC Bold"/>
              </a:rPr>
              <a:t>annotation 決策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691640" y="5074920"/>
            <a:ext cx="3749039" cy="164592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000" b="0" i="0">
                <a:solidFill>
                  <a:srgbClr val="C76B50"/>
                </a:solidFill>
                <a:latin typeface="Arial"/>
              </a:rPr>
              <a:t>Annotation-layer decisions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446520" y="4617720"/>
            <a:ext cx="4983480" cy="10241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CC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6629400" y="4782312"/>
            <a:ext cx="566928" cy="548640"/>
          </a:xfrm>
          <a:prstGeom prst="roundRect">
            <a:avLst/>
          </a:prstGeom>
          <a:solidFill>
            <a:srgbClr val="1E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748272" y="4919472"/>
            <a:ext cx="256032" cy="146304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ctr"/>
            <a:r>
              <a:rPr sz="1100" b="1" i="0">
                <a:solidFill>
                  <a:srgbClr val="F8F4EE"/>
                </a:solidFill>
                <a:latin typeface="Arial Bold"/>
              </a:rPr>
              <a:t>06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60920" y="4782312"/>
            <a:ext cx="3566160" cy="201168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500" b="1" i="0">
                <a:solidFill>
                  <a:srgbClr val="17202A"/>
                </a:solidFill>
                <a:latin typeface="Noto Sans TC Bold"/>
              </a:rPr>
              <a:t>缺口、下一步與複查路徑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60920" y="5074920"/>
            <a:ext cx="3749039" cy="164592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000" b="0" i="0">
                <a:solidFill>
                  <a:srgbClr val="C76B50"/>
                </a:solidFill>
                <a:latin typeface="Arial"/>
              </a:rPr>
              <a:t>Gaps, actions, and traceability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77240" y="6062472"/>
            <a:ext cx="10835640" cy="320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CC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32688" y="6144768"/>
            <a:ext cx="10332720" cy="128016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980" b="0" i="0">
                <a:solidFill>
                  <a:srgbClr val="52606D"/>
                </a:solidFill>
                <a:latin typeface="Noto Sans TC"/>
              </a:rPr>
              <a:t>頁數策略：一頁一重點；若觀眾需要更多細節，附錄與原始報告可直接回查。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8368" y="6409944"/>
            <a:ext cx="813816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60" b="0" i="0">
                <a:solidFill>
                  <a:srgbClr val="52606D"/>
                </a:solidFill>
                <a:latin typeface="Arial"/>
              </a:rPr>
              <a:t>InterSubMod weekly research review deck rebuilt for oral presentation.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018520" y="6391656"/>
            <a:ext cx="4572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52606D"/>
                </a:solidFill>
                <a:latin typeface="Arial"/>
              </a:rPr>
              <a:t>2/14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8961120" cy="530352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2500" b="1" i="0">
                <a:solidFill>
                  <a:srgbClr val="17202A"/>
                </a:solidFill>
                <a:latin typeface="Noto Sans TC Bold"/>
              </a:rPr>
              <a:t>本週最重要的結論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896112"/>
            <a:ext cx="8412480" cy="201168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100" b="0" i="0">
                <a:solidFill>
                  <a:srgbClr val="C76B50"/>
                </a:solidFill>
                <a:latin typeface="Arial"/>
              </a:rPr>
              <a:t>Opening Thesis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143000"/>
            <a:ext cx="10424160" cy="310896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300" b="0" i="0">
                <a:solidFill>
                  <a:srgbClr val="5E6572"/>
                </a:solidFill>
                <a:latin typeface="Noto Sans TC"/>
              </a:rPr>
              <a:t>研究主線已從『大量試規則』收斂成固定分工：caller-first、methylation-support、annotation/QC/artifact。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783080"/>
            <a:ext cx="6583680" cy="2103120"/>
          </a:xfrm>
          <a:prstGeom prst="roundRect">
            <a:avLst/>
          </a:prstGeom>
          <a:solidFill>
            <a:srgbClr val="1E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87552" y="2057400"/>
            <a:ext cx="5989320" cy="713232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2000" b="1" i="0">
                <a:solidFill>
                  <a:srgbClr val="F8F4EE"/>
                </a:solidFill>
                <a:latin typeface="Noto Sans TC Bold"/>
              </a:rPr>
              <a:t>目前最穩的救援仍在 caller 端；甲基訊號已證明有價值，但定位應是 support、annotation 與 triage，而不是直接取代 caller。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7552" y="2944368"/>
            <a:ext cx="5806440" cy="237744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050" b="0" i="0">
                <a:solidFill>
                  <a:srgbClr val="D6DCE5"/>
                </a:solidFill>
                <a:latin typeface="Arial"/>
              </a:rPr>
              <a:t>The stable pattern is caller-first. Methylation already shows value, but its current role is support, annotation, and artifact triage.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543800" y="1783080"/>
            <a:ext cx="388620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CC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26679" y="1920240"/>
            <a:ext cx="1645920" cy="164592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280" b="1" i="0">
                <a:solidFill>
                  <a:srgbClr val="C76B50"/>
                </a:solidFill>
                <a:latin typeface="Noto Sans TC Bold"/>
              </a:rPr>
              <a:t>5kHz paired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26679" y="2176272"/>
            <a:ext cx="2377440" cy="219456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800" b="1" i="0">
                <a:solidFill>
                  <a:srgbClr val="17202A"/>
                </a:solidFill>
                <a:latin typeface="Arial Bold"/>
              </a:rPr>
              <a:t>F1 +0.0010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26679" y="2532888"/>
            <a:ext cx="3383280" cy="164592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019" b="0" i="0">
                <a:solidFill>
                  <a:srgbClr val="52606D"/>
                </a:solidFill>
                <a:latin typeface="Noto Sans TC"/>
              </a:rPr>
              <a:t>83 個 FP 被額外移除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543800" y="3182112"/>
            <a:ext cx="388620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CC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26679" y="3319272"/>
            <a:ext cx="1645920" cy="164592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280" b="1" i="0">
                <a:solidFill>
                  <a:srgbClr val="C76B50"/>
                </a:solidFill>
                <a:latin typeface="Noto Sans TC Bold"/>
              </a:rPr>
              <a:t>5kHz TO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26679" y="3575304"/>
            <a:ext cx="2377440" cy="219456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460" b="1" i="0">
                <a:solidFill>
                  <a:srgbClr val="17202A"/>
                </a:solidFill>
                <a:latin typeface="Arial Bold"/>
              </a:rPr>
              <a:t>caller-only 最佳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26679" y="3931920"/>
            <a:ext cx="3383280" cy="164592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019" b="0" i="0">
                <a:solidFill>
                  <a:srgbClr val="52606D"/>
                </a:solidFill>
                <a:latin typeface="Noto Sans TC"/>
              </a:rPr>
              <a:t>甲基 support 成立但未超過 gate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543800" y="4599432"/>
            <a:ext cx="3886200" cy="548640"/>
          </a:xfrm>
          <a:prstGeom prst="roundRect">
            <a:avLst/>
          </a:prstGeom>
          <a:solidFill>
            <a:srgbClr val="EBD8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26679" y="4754880"/>
            <a:ext cx="3429000" cy="128016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019" b="1" i="0">
                <a:solidFill>
                  <a:srgbClr val="17202A"/>
                </a:solidFill>
                <a:latin typeface="Noto Sans TC Bold"/>
              </a:rPr>
              <a:t>DORADO TO｜support 非全負，但 Pairwise 方向與 5kHz 相反。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5321808"/>
            <a:ext cx="10698480" cy="8046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CC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914400" y="5431536"/>
            <a:ext cx="3154680" cy="457200"/>
          </a:xfrm>
          <a:prstGeom prst="roundRect">
            <a:avLst/>
          </a:prstGeom>
          <a:solidFill>
            <a:srgbClr val="1E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60704" y="5513832"/>
            <a:ext cx="2761488" cy="109728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080" b="1" i="0">
                <a:solidFill>
                  <a:srgbClr val="F8F4EE"/>
                </a:solidFill>
                <a:latin typeface="Noto Sans TC Bold"/>
              </a:rPr>
              <a:t>第一層｜caller-first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0704" y="5687568"/>
            <a:ext cx="2761488" cy="109728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840" b="0" i="0">
                <a:solidFill>
                  <a:srgbClr val="F8F4EE"/>
                </a:solidFill>
                <a:latin typeface="Noto Sans TC"/>
              </a:rPr>
              <a:t>用 GQ / QUAL / eligibility 定義可救回的邊緣集合。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443983" y="5431536"/>
            <a:ext cx="3154680" cy="457200"/>
          </a:xfrm>
          <a:prstGeom prst="roundRect">
            <a:avLst/>
          </a:prstGeom>
          <a:solidFill>
            <a:srgbClr val="6E9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90288" y="5513832"/>
            <a:ext cx="2761488" cy="109728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080" b="1" i="0">
                <a:solidFill>
                  <a:srgbClr val="17202A"/>
                </a:solidFill>
                <a:latin typeface="Noto Sans TC Bold"/>
              </a:rPr>
              <a:t>第二層｜methylation-support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90288" y="5687568"/>
            <a:ext cx="2761488" cy="109728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840" b="0" i="0">
                <a:solidFill>
                  <a:srgbClr val="17202A"/>
                </a:solidFill>
                <a:latin typeface="Noto Sans TC"/>
              </a:rPr>
              <a:t>用 Quality / Pairwise / agreement 補強排序與支持。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973567" y="5431536"/>
            <a:ext cx="3154680" cy="457200"/>
          </a:xfrm>
          <a:prstGeom prst="roundRect">
            <a:avLst/>
          </a:prstGeom>
          <a:solidFill>
            <a:srgbClr val="EBD8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119871" y="5513832"/>
            <a:ext cx="2761488" cy="109728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080" b="1" i="0">
                <a:solidFill>
                  <a:srgbClr val="17202A"/>
                </a:solidFill>
                <a:latin typeface="Noto Sans TC Bold"/>
              </a:rPr>
              <a:t>第三層｜annotation / QC / triage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19871" y="5687568"/>
            <a:ext cx="2761488" cy="109728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840" b="0" i="0">
                <a:solidFill>
                  <a:srgbClr val="17202A"/>
                </a:solidFill>
                <a:latin typeface="Noto Sans TC"/>
              </a:rPr>
              <a:t>把 phase completeness、dataset-aware 訊號與 artifact 旁路制度化輸出。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" y="6409944"/>
            <a:ext cx="813816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60" b="0" i="0">
                <a:solidFill>
                  <a:srgbClr val="52606D"/>
                </a:solidFill>
                <a:latin typeface="Arial"/>
              </a:rPr>
              <a:t>InterSubMod weekly research review deck rebuilt for oral presentation.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18520" y="6391656"/>
            <a:ext cx="4572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52606D"/>
                </a:solidFill>
                <a:latin typeface="Arial"/>
              </a:rPr>
              <a:t>3/14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E6D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8961120" cy="530352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2500" b="1" i="0">
                <a:solidFill>
                  <a:srgbClr val="17202A"/>
                </a:solidFill>
                <a:latin typeface="Noto Sans TC Bold"/>
              </a:rPr>
              <a:t>資料四象限與比較邊界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896112"/>
            <a:ext cx="8412480" cy="201168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100" b="0" i="0">
                <a:solidFill>
                  <a:srgbClr val="C76B50"/>
                </a:solidFill>
                <a:latin typeface="Arial"/>
              </a:rPr>
              <a:t>Study matrix and comparability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143000"/>
            <a:ext cx="10424160" cy="310896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300" b="0" i="0">
                <a:solidFill>
                  <a:srgbClr val="5E6572"/>
                </a:solidFill>
                <a:latin typeface="Noto Sans TC"/>
              </a:rPr>
              <a:t>四個 dataset 都已跑通，但 snapshot scope 與 candidate-specific coverage 不完全相同，解讀邊界必須分清楚。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783080"/>
            <a:ext cx="5623560" cy="4434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CC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965960"/>
            <a:ext cx="1463040" cy="164592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500" b="1" i="0">
                <a:solidFill>
                  <a:srgbClr val="17202A"/>
                </a:solidFill>
                <a:latin typeface="Noto Sans TC Bold"/>
              </a:rPr>
              <a:t>四象限資料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32688" y="2377440"/>
            <a:ext cx="2423160" cy="1234440"/>
          </a:xfrm>
          <a:prstGeom prst="roundRect">
            <a:avLst/>
          </a:prstGeom>
          <a:solidFill>
            <a:srgbClr val="F0D8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60704" y="2487168"/>
            <a:ext cx="2057400" cy="201168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140" b="1" i="0">
                <a:solidFill>
                  <a:srgbClr val="17202A"/>
                </a:solidFill>
                <a:latin typeface="Noto Sans TC Bold"/>
              </a:rPr>
              <a:t>HCC1395 5kHz paired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" y="2798064"/>
            <a:ext cx="2057400" cy="384048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950" b="0" i="0">
                <a:solidFill>
                  <a:srgbClr val="52606D"/>
                </a:solidFill>
                <a:latin typeface="Noto Sans TC"/>
              </a:rPr>
              <a:t>最 noisy 的主實驗 paired 樣本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85032" y="2377440"/>
            <a:ext cx="2423160" cy="1234440"/>
          </a:xfrm>
          <a:prstGeom prst="roundRect">
            <a:avLst/>
          </a:prstGeom>
          <a:solidFill>
            <a:srgbClr val="D7E5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813048" y="2487168"/>
            <a:ext cx="2057400" cy="201168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140" b="1" i="0">
                <a:solidFill>
                  <a:srgbClr val="17202A"/>
                </a:solidFill>
                <a:latin typeface="Noto Sans TC Bold"/>
              </a:rPr>
              <a:t>HCC1395 DORADO paired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13048" y="2798064"/>
            <a:ext cx="2057400" cy="384048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950" b="0" i="0">
                <a:solidFill>
                  <a:srgbClr val="52606D"/>
                </a:solidFill>
                <a:latin typeface="Noto Sans TC"/>
              </a:rPr>
              <a:t>跨平台 paired 交叉驗證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32688" y="4023360"/>
            <a:ext cx="2423160" cy="1234440"/>
          </a:xfrm>
          <a:prstGeom prst="roundRect">
            <a:avLst/>
          </a:prstGeom>
          <a:solidFill>
            <a:srgbClr val="F0D8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60704" y="4133088"/>
            <a:ext cx="2057400" cy="201168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140" b="1" i="0">
                <a:solidFill>
                  <a:srgbClr val="17202A"/>
                </a:solidFill>
                <a:latin typeface="Noto Sans TC Bold"/>
              </a:rPr>
              <a:t>HCC1395 5kHz TO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704" y="4443984"/>
            <a:ext cx="2057400" cy="384048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950" b="0" i="0">
                <a:solidFill>
                  <a:srgbClr val="52606D"/>
                </a:solidFill>
                <a:latin typeface="Noto Sans TC"/>
              </a:rPr>
              <a:t>最能看見 methylation-support 的 TO 場景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85032" y="4023360"/>
            <a:ext cx="2423160" cy="1234440"/>
          </a:xfrm>
          <a:prstGeom prst="roundRect">
            <a:avLst/>
          </a:prstGeom>
          <a:solidFill>
            <a:srgbClr val="D7E5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813048" y="4133088"/>
            <a:ext cx="2057400" cy="201168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140" b="1" i="0">
                <a:solidFill>
                  <a:srgbClr val="17202A"/>
                </a:solidFill>
                <a:latin typeface="Noto Sans TC Bold"/>
              </a:rPr>
              <a:t>HCC1395 DORADO TO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13048" y="4443984"/>
            <a:ext cx="2057400" cy="384048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950" b="0" i="0">
                <a:solidFill>
                  <a:srgbClr val="52606D"/>
                </a:solidFill>
                <a:latin typeface="Noto Sans TC"/>
              </a:rPr>
              <a:t>TO 跨平台驗證；本輪用 subset haplotag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37960" y="1783080"/>
            <a:ext cx="4892040" cy="4434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CC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748272" y="1965960"/>
            <a:ext cx="2011680" cy="164592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500" b="1" i="0">
                <a:solidFill>
                  <a:srgbClr val="17202A"/>
                </a:solidFill>
                <a:latin typeface="Noto Sans TC Bold"/>
              </a:rPr>
              <a:t>比較時一定要記住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20840" y="2331720"/>
            <a:ext cx="4315968" cy="21031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100">
                <a:solidFill>
                  <a:srgbClr val="17202A"/>
                </a:solidFill>
                <a:latin typeface="Noto Sans TC"/>
              </a:rPr>
              <a:t>5kHz TO snapshot 來自 full tagged BAM；DORADO TO 來自 candidate-window subset tagged BAM。</a:t>
            </a:r>
          </a:p>
          <a:p>
            <a:pPr algn="l">
              <a:spcAft>
                <a:spcPts val="600"/>
              </a:spcAft>
            </a:pPr>
            <a:r>
              <a:rPr sz="1100">
                <a:solidFill>
                  <a:srgbClr val="17202A"/>
                </a:solidFill>
                <a:latin typeface="Noto Sans TC"/>
              </a:rPr>
              <a:t>paired candidate-specific coverage 只有 8%~20%，TO 則是 71%~100%。</a:t>
            </a:r>
          </a:p>
          <a:p>
            <a:pPr algn="l">
              <a:spcAft>
                <a:spcPts val="600"/>
              </a:spcAft>
            </a:pPr>
            <a:r>
              <a:rPr sz="1100">
                <a:solidFill>
                  <a:srgbClr val="17202A"/>
                </a:solidFill>
                <a:latin typeface="Noto Sans TC"/>
              </a:rPr>
              <a:t>因此 paired 的甲基無效不能直接解讀成 paired 沒有甲基價值。</a:t>
            </a:r>
          </a:p>
          <a:p>
            <a:pPr algn="l">
              <a:spcAft>
                <a:spcPts val="600"/>
              </a:spcAft>
            </a:pPr>
            <a:r>
              <a:rPr sz="1100">
                <a:solidFill>
                  <a:srgbClr val="17202A"/>
                </a:solidFill>
                <a:latin typeface="Noto Sans TC"/>
              </a:rPr>
              <a:t>PairwiseMedianDist 方向在 5kHz TO 與 DORADO TO 相反，只能做 dataset-aware 解讀。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720840" y="4828032"/>
            <a:ext cx="4251960" cy="877824"/>
          </a:xfrm>
          <a:prstGeom prst="roundRect">
            <a:avLst/>
          </a:prstGeom>
          <a:solidFill>
            <a:srgbClr val="1E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967728" y="5084064"/>
            <a:ext cx="3703320" cy="27432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120" b="1" i="0">
                <a:solidFill>
                  <a:srgbClr val="F8F4EE"/>
                </a:solidFill>
                <a:latin typeface="Noto Sans TC Bold"/>
              </a:rPr>
              <a:t>結論：四象限可以一起看，但不是所有數值都能硬做跨 dataset 絕對值比較。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" y="6409944"/>
            <a:ext cx="813816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60" b="0" i="0">
                <a:solidFill>
                  <a:srgbClr val="52606D"/>
                </a:solidFill>
                <a:latin typeface="Arial"/>
              </a:rPr>
              <a:t>InterSubMod weekly research review deck rebuilt for oral presentation.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18520" y="6391656"/>
            <a:ext cx="4572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52606D"/>
                </a:solidFill>
                <a:latin typeface="Arial"/>
              </a:rPr>
              <a:t>4/14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8961120" cy="530352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2500" b="1" i="0">
                <a:solidFill>
                  <a:srgbClr val="17202A"/>
                </a:solidFill>
                <a:latin typeface="Noto Sans TC Bold"/>
              </a:rPr>
              <a:t>本週推進順序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896112"/>
            <a:ext cx="8412480" cy="201168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100" b="0" i="0">
                <a:solidFill>
                  <a:srgbClr val="C76B50"/>
                </a:solidFill>
                <a:latin typeface="Arial"/>
              </a:rPr>
              <a:t>Weekly milestones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143000"/>
            <a:ext cx="10424160" cy="310896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300" b="0" i="0">
                <a:solidFill>
                  <a:srgbClr val="5E6572"/>
                </a:solidFill>
                <a:latin typeface="Noto Sans TC"/>
              </a:rPr>
              <a:t>先排除 mixed 主線，再跑通 paired / TO、candidate-specific rescue、phase 2 與 annotation 回接。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13232" y="1828800"/>
            <a:ext cx="10881360" cy="3246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CC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05840" y="3703320"/>
            <a:ext cx="10012680" cy="54864"/>
          </a:xfrm>
          <a:prstGeom prst="rect">
            <a:avLst/>
          </a:prstGeom>
          <a:solidFill>
            <a:srgbClr val="C76B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097280" y="2148840"/>
            <a:ext cx="2011680" cy="1234440"/>
          </a:xfrm>
          <a:prstGeom prst="roundRect">
            <a:avLst/>
          </a:prstGeom>
          <a:solidFill>
            <a:srgbClr val="F7F3EC"/>
          </a:solidFill>
          <a:ln w="12700">
            <a:solidFill>
              <a:srgbClr val="D6CC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225295" y="2267712"/>
            <a:ext cx="548640" cy="310896"/>
          </a:xfrm>
          <a:prstGeom prst="roundRect">
            <a:avLst/>
          </a:prstGeom>
          <a:solidFill>
            <a:srgbClr val="1E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53312" y="2359152"/>
            <a:ext cx="274320" cy="109728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ctr"/>
            <a:r>
              <a:rPr sz="1000" b="1" i="0">
                <a:solidFill>
                  <a:srgbClr val="F8F4EE"/>
                </a:solidFill>
                <a:latin typeface="Arial Bold"/>
              </a:rPr>
              <a:t>03-05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07007" y="2670048"/>
            <a:ext cx="1783080" cy="201168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140" b="1" i="0">
                <a:solidFill>
                  <a:srgbClr val="17202A"/>
                </a:solidFill>
                <a:latin typeface="Noto Sans TC Bold"/>
              </a:rPr>
              <a:t>三路對照與全樣本規則拆解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07007" y="2980944"/>
            <a:ext cx="1783080" cy="310896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940" b="0" i="0">
                <a:solidFill>
                  <a:srgbClr val="52606D"/>
                </a:solidFill>
                <a:latin typeface="Noto Sans TC"/>
              </a:rPr>
              <a:t>確認 mixed purity 容易混入組織差異，主線改成純樣本優先。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57600" y="2148840"/>
            <a:ext cx="2011680" cy="1234440"/>
          </a:xfrm>
          <a:prstGeom prst="roundRect">
            <a:avLst/>
          </a:prstGeom>
          <a:solidFill>
            <a:srgbClr val="F7F3EC"/>
          </a:solidFill>
          <a:ln w="12700">
            <a:solidFill>
              <a:srgbClr val="D6CC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785615" y="2267712"/>
            <a:ext cx="548640" cy="310896"/>
          </a:xfrm>
          <a:prstGeom prst="roundRect">
            <a:avLst/>
          </a:prstGeom>
          <a:solidFill>
            <a:srgbClr val="1E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913632" y="2359152"/>
            <a:ext cx="274320" cy="109728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ctr"/>
            <a:r>
              <a:rPr sz="1000" b="1" i="0">
                <a:solidFill>
                  <a:srgbClr val="F8F4EE"/>
                </a:solidFill>
                <a:latin typeface="Arial Bold"/>
              </a:rPr>
              <a:t>03-07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67328" y="2670048"/>
            <a:ext cx="1783080" cy="201168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140" b="1" i="0">
                <a:solidFill>
                  <a:srgbClr val="17202A"/>
                </a:solidFill>
                <a:latin typeface="Noto Sans TC Bold"/>
              </a:rPr>
              <a:t>paired rerun 與 TO pilot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67328" y="2980944"/>
            <a:ext cx="1783080" cy="310896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940" b="0" i="0">
                <a:solidFill>
                  <a:srgbClr val="52606D"/>
                </a:solidFill>
                <a:latin typeface="Noto Sans TC"/>
              </a:rPr>
              <a:t>paired pure 與 TO 主流程正式跑通，確立 5kHz 主實驗樣本地位。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2148840"/>
            <a:ext cx="2011680" cy="1234440"/>
          </a:xfrm>
          <a:prstGeom prst="roundRect">
            <a:avLst/>
          </a:prstGeom>
          <a:solidFill>
            <a:srgbClr val="F7F3EC"/>
          </a:solidFill>
          <a:ln w="12700">
            <a:solidFill>
              <a:srgbClr val="D6CC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345936" y="2267712"/>
            <a:ext cx="548640" cy="310896"/>
          </a:xfrm>
          <a:prstGeom prst="roundRect">
            <a:avLst/>
          </a:prstGeom>
          <a:solidFill>
            <a:srgbClr val="1E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73952" y="2359152"/>
            <a:ext cx="274320" cy="109728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ctr"/>
            <a:r>
              <a:rPr sz="1000" b="1" i="0">
                <a:solidFill>
                  <a:srgbClr val="F8F4EE"/>
                </a:solidFill>
                <a:latin typeface="Arial Bold"/>
              </a:rPr>
              <a:t>03-08~09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27648" y="2670048"/>
            <a:ext cx="1783080" cy="201168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140" b="1" i="0">
                <a:solidFill>
                  <a:srgbClr val="17202A"/>
                </a:solidFill>
                <a:latin typeface="Noto Sans TC Bold"/>
              </a:rPr>
              <a:t>candidate-specific rescue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27648" y="2980944"/>
            <a:ext cx="1783080" cy="310896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940" b="0" i="0">
                <a:solidFill>
                  <a:srgbClr val="52606D"/>
                </a:solidFill>
                <a:latin typeface="Noto Sans TC"/>
              </a:rPr>
              <a:t>甲基 support 在 TO 下成立，但不穩定跨樣本。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778240" y="2148840"/>
            <a:ext cx="2011680" cy="1234440"/>
          </a:xfrm>
          <a:prstGeom prst="roundRect">
            <a:avLst/>
          </a:prstGeom>
          <a:solidFill>
            <a:srgbClr val="F7F3EC"/>
          </a:solidFill>
          <a:ln w="12700">
            <a:solidFill>
              <a:srgbClr val="D6CC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906256" y="2267712"/>
            <a:ext cx="548640" cy="310896"/>
          </a:xfrm>
          <a:prstGeom prst="roundRect">
            <a:avLst/>
          </a:prstGeom>
          <a:solidFill>
            <a:srgbClr val="1E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034272" y="2359152"/>
            <a:ext cx="274320" cy="109728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ctr"/>
            <a:r>
              <a:rPr sz="1000" b="1" i="0">
                <a:solidFill>
                  <a:srgbClr val="F8F4EE"/>
                </a:solidFill>
                <a:latin typeface="Arial Bold"/>
              </a:rPr>
              <a:t>03-11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87967" y="2670048"/>
            <a:ext cx="1783080" cy="201168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140" b="1" i="0">
                <a:solidFill>
                  <a:srgbClr val="17202A"/>
                </a:solidFill>
                <a:latin typeface="Noto Sans TC Bold"/>
              </a:rPr>
              <a:t>phase 2 + annotation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87967" y="2980944"/>
            <a:ext cx="1783080" cy="310896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940" b="0" i="0">
                <a:solidFill>
                  <a:srgbClr val="52606D"/>
                </a:solidFill>
                <a:latin typeface="Noto Sans TC"/>
              </a:rPr>
              <a:t>paired raw 對照與 finer interval 已回接 annotation layer。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13232" y="5321808"/>
            <a:ext cx="10881360" cy="502920"/>
          </a:xfrm>
          <a:prstGeom prst="roundRect">
            <a:avLst/>
          </a:prstGeom>
          <a:solidFill>
            <a:srgbClr val="EBD8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4400" y="5486400"/>
            <a:ext cx="10332720" cy="164592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120" b="1" i="0">
                <a:solidFill>
                  <a:srgbClr val="17202A"/>
                </a:solidFill>
                <a:latin typeface="Noto Sans TC Bold"/>
              </a:rPr>
              <a:t>重要收斂：這週不是只多做了幾條規則，而是把『什麼應進主流程、什麼只該留在分析層』這件事正式定型。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" y="6409944"/>
            <a:ext cx="813816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60" b="0" i="0">
                <a:solidFill>
                  <a:srgbClr val="52606D"/>
                </a:solidFill>
                <a:latin typeface="Arial"/>
              </a:rPr>
              <a:t>InterSubMod weekly research review deck rebuilt for oral presentation.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018520" y="6391656"/>
            <a:ext cx="4572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52606D"/>
                </a:solidFill>
                <a:latin typeface="Arial"/>
              </a:rPr>
              <a:t>5/14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E6D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8961120" cy="530352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2500" b="1" i="0">
                <a:solidFill>
                  <a:srgbClr val="17202A"/>
                </a:solidFill>
                <a:latin typeface="Noto Sans TC Bold"/>
              </a:rPr>
              <a:t>paired pure 正式 rerun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896112"/>
            <a:ext cx="8412480" cy="201168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100" b="0" i="0">
                <a:solidFill>
                  <a:srgbClr val="C76B50"/>
                </a:solidFill>
                <a:latin typeface="Arial"/>
              </a:rPr>
              <a:t>Paired benchmark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143000"/>
            <a:ext cx="10424160" cy="310896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300" b="0" i="0">
                <a:solidFill>
                  <a:srgbClr val="5E6572"/>
                </a:solidFill>
                <a:latin typeface="Noto Sans TC"/>
              </a:rPr>
              <a:t>5kHz 是最有壓力的主樣本；DORADO 是跨平台交叉驗證基準。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49808" y="1755648"/>
            <a:ext cx="6400800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CC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paired_rerun_f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1832" y="1993392"/>
            <a:ext cx="5989320" cy="31546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41832" y="5321808"/>
            <a:ext cx="5760720" cy="219456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940" b="0" i="0">
                <a:solidFill>
                  <a:srgbClr val="52606D"/>
                </a:solidFill>
                <a:latin typeface="Noto Sans TC"/>
              </a:rPr>
              <a:t>圖表解讀｜X 軸：paired dataset；Y 軸：F1。每組柱狀依序代表 ClairS、LongPhase-S、InterSubMod。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60920" y="1828800"/>
            <a:ext cx="3977639" cy="1133856"/>
          </a:xfrm>
          <a:prstGeom prst="roundRect">
            <a:avLst/>
          </a:prstGeom>
          <a:solidFill>
            <a:srgbClr val="1E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25512" y="1947672"/>
            <a:ext cx="1737360" cy="146304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180" b="1" i="0">
                <a:solidFill>
                  <a:srgbClr val="F8F4EE"/>
                </a:solidFill>
                <a:latin typeface="Noto Sans TC Bold"/>
              </a:rPr>
              <a:t>5kHz paired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25512" y="2212848"/>
            <a:ext cx="2423160" cy="201168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520" b="1" i="0">
                <a:solidFill>
                  <a:srgbClr val="F8F4EE"/>
                </a:solidFill>
                <a:latin typeface="Arial Bold"/>
              </a:rPr>
              <a:t>0.8522 → 0.8532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25512" y="2578608"/>
            <a:ext cx="3566160" cy="18288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950" b="0" i="0">
                <a:solidFill>
                  <a:srgbClr val="F8F4EE"/>
                </a:solidFill>
                <a:latin typeface="Noto Sans TC"/>
              </a:rPr>
              <a:t>增益主要來自額外移除 83 個 FP，不是大量救回 TP。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60920" y="3218688"/>
            <a:ext cx="3977639" cy="1133856"/>
          </a:xfrm>
          <a:prstGeom prst="roundRect">
            <a:avLst/>
          </a:prstGeom>
          <a:solidFill>
            <a:srgbClr val="C76B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25512" y="3337560"/>
            <a:ext cx="1737360" cy="146304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180" b="1" i="0">
                <a:solidFill>
                  <a:srgbClr val="F8F4EE"/>
                </a:solidFill>
                <a:latin typeface="Noto Sans TC Bold"/>
              </a:rPr>
              <a:t>DORADO paired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25512" y="3602736"/>
            <a:ext cx="2423160" cy="201168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520" b="1" i="0">
                <a:solidFill>
                  <a:srgbClr val="F8F4EE"/>
                </a:solidFill>
                <a:latin typeface="Arial Bold"/>
              </a:rPr>
              <a:t>0.8592 → 0.8590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25512" y="3968496"/>
            <a:ext cx="3566160" cy="18288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950" b="0" i="0">
                <a:solidFill>
                  <a:srgbClr val="F8F4EE"/>
                </a:solidFill>
                <a:latin typeface="Noto Sans TC"/>
              </a:rPr>
              <a:t>方向可對照，但同一條規則不保證可攜。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60920" y="4608576"/>
            <a:ext cx="3977639" cy="1133856"/>
          </a:xfrm>
          <a:prstGeom prst="roundRect">
            <a:avLst/>
          </a:prstGeom>
          <a:solidFill>
            <a:srgbClr val="D7E5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525512" y="4727448"/>
            <a:ext cx="1737360" cy="146304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180" b="1" i="0">
                <a:solidFill>
                  <a:srgbClr val="17202A"/>
                </a:solidFill>
                <a:latin typeface="Noto Sans TC Bold"/>
              </a:rPr>
              <a:t>paired 高層判讀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25512" y="4992624"/>
            <a:ext cx="2423160" cy="201168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380" b="1" i="0">
                <a:solidFill>
                  <a:srgbClr val="17202A"/>
                </a:solidFill>
                <a:latin typeface="Arial Bold"/>
              </a:rPr>
              <a:t>caller-first 仍主導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25512" y="5358384"/>
            <a:ext cx="3566160" cy="18288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950" b="0" i="0">
                <a:solidFill>
                  <a:srgbClr val="17202A"/>
                </a:solidFill>
                <a:latin typeface="Noto Sans TC"/>
              </a:rPr>
              <a:t>InterSubMod 在 paired 有價值，但目前更像精修 precision 的分析層。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6409944"/>
            <a:ext cx="813816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60" b="0" i="0">
                <a:solidFill>
                  <a:srgbClr val="52606D"/>
                </a:solidFill>
                <a:latin typeface="Arial"/>
              </a:rPr>
              <a:t>InterSubMod weekly research review deck rebuilt for oral presentation.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018520" y="6391656"/>
            <a:ext cx="4572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52606D"/>
                </a:solidFill>
                <a:latin typeface="Arial"/>
              </a:rPr>
              <a:t>6/14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8961120" cy="530352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2500" b="1" i="0">
                <a:solidFill>
                  <a:srgbClr val="17202A"/>
                </a:solidFill>
                <a:latin typeface="Noto Sans TC Bold"/>
              </a:rPr>
              <a:t>tumor-only rescue：caller 先、甲基後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896112"/>
            <a:ext cx="8412480" cy="201168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100" b="0" i="0">
                <a:solidFill>
                  <a:srgbClr val="C76B50"/>
                </a:solidFill>
                <a:latin typeface="Arial"/>
              </a:rPr>
              <a:t>Tumor-only rescue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143000"/>
            <a:ext cx="10424160" cy="310896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300" b="0" i="0">
                <a:solidFill>
                  <a:srgbClr val="5E6572"/>
                </a:solidFill>
                <a:latin typeface="Noto Sans TC"/>
              </a:rPr>
              <a:t>TO 下甲基特徵不是全負效果，但目前仍沒有穩定超過最佳 caller gate。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49808" y="1755648"/>
            <a:ext cx="6035040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CC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to_suppo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688" y="1993392"/>
            <a:ext cx="5669280" cy="28803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32688" y="5065776"/>
            <a:ext cx="5577840" cy="219456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930" b="0" i="0">
                <a:solidFill>
                  <a:srgbClr val="52606D"/>
                </a:solidFill>
                <a:latin typeface="Noto Sans TC"/>
              </a:rPr>
              <a:t>圖表解讀｜Y 軸為相對 baseline 的 ΔF1。左圖是 5kHz TO，右圖是 DORADO TO。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040880" y="1755648"/>
            <a:ext cx="4224528" cy="18470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CC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269480" y="1920240"/>
            <a:ext cx="1280160" cy="164592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350" b="1" i="0">
                <a:solidFill>
                  <a:srgbClr val="17202A"/>
                </a:solidFill>
                <a:latin typeface="Noto Sans TC Bold"/>
              </a:rPr>
              <a:t>5kHz TO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42048" y="2212848"/>
            <a:ext cx="3657600" cy="107899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040">
                <a:solidFill>
                  <a:srgbClr val="17202A"/>
                </a:solidFill>
                <a:latin typeface="Noto Sans TC"/>
              </a:rPr>
              <a:t>caller-only 最佳：`QUAL&gt;=10 or GQ&gt;=20`，`491 TP / 118 FP`。</a:t>
            </a:r>
          </a:p>
          <a:p>
            <a:pPr algn="l">
              <a:spcAft>
                <a:spcPts val="600"/>
              </a:spcAft>
            </a:pPr>
            <a:r>
              <a:rPr sz="1040">
                <a:solidFill>
                  <a:srgbClr val="17202A"/>
                </a:solidFill>
                <a:latin typeface="Noto Sans TC"/>
              </a:rPr>
              <a:t>`Pairwise&gt;=0.20` 與 `agreement_positive` 都有 support 價值，但仍低於最佳 caller-only。</a:t>
            </a:r>
          </a:p>
          <a:p>
            <a:pPr algn="l">
              <a:spcAft>
                <a:spcPts val="600"/>
              </a:spcAft>
            </a:pPr>
            <a:r>
              <a:rPr sz="1040">
                <a:solidFill>
                  <a:srgbClr val="17202A"/>
                </a:solidFill>
                <a:latin typeface="Noto Sans TC"/>
              </a:rPr>
              <a:t>結論：適合 `caller-first + methylation-support`。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040880" y="3767328"/>
            <a:ext cx="4224528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CC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69480" y="3931920"/>
            <a:ext cx="1463040" cy="164592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350" b="1" i="0">
                <a:solidFill>
                  <a:srgbClr val="17202A"/>
                </a:solidFill>
                <a:latin typeface="Noto Sans TC Bold"/>
              </a:rPr>
              <a:t>DORADO TO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42048" y="4224528"/>
            <a:ext cx="3657600" cy="107899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019">
                <a:solidFill>
                  <a:srgbClr val="17202A"/>
                </a:solidFill>
                <a:latin typeface="Noto Sans TC"/>
              </a:rPr>
              <a:t>`GQ&gt;=10` 仍是最佳 caller-only。</a:t>
            </a:r>
          </a:p>
          <a:p>
            <a:pPr algn="l">
              <a:spcAft>
                <a:spcPts val="600"/>
              </a:spcAft>
            </a:pPr>
            <a:r>
              <a:rPr sz="1019">
                <a:solidFill>
                  <a:srgbClr val="17202A"/>
                </a:solidFill>
                <a:latin typeface="Noto Sans TC"/>
              </a:rPr>
              <a:t>`Quality&gt;=60`、`Pairwise&lt;=0.20` 單獨都為正值，但在 gate 後仍只作 support。</a:t>
            </a:r>
          </a:p>
          <a:p>
            <a:pPr algn="l">
              <a:spcAft>
                <a:spcPts val="600"/>
              </a:spcAft>
            </a:pPr>
            <a:r>
              <a:rPr sz="1019">
                <a:solidFill>
                  <a:srgbClr val="17202A"/>
                </a:solidFill>
                <a:latin typeface="Noto Sans TC"/>
              </a:rPr>
              <a:t>本輪使用 `candidate-window subset BAM + subset haplotag`，方向可判讀但不做絕對值硬比。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040880" y="5541264"/>
            <a:ext cx="4224528" cy="457200"/>
          </a:xfrm>
          <a:prstGeom prst="roundRect">
            <a:avLst/>
          </a:prstGeom>
          <a:solidFill>
            <a:srgbClr val="1E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251192" y="5669280"/>
            <a:ext cx="3730752" cy="164592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010" b="1" i="0">
                <a:solidFill>
                  <a:srgbClr val="F8F4EE"/>
                </a:solidFill>
                <a:latin typeface="Noto Sans TC Bold"/>
              </a:rPr>
              <a:t>結論：甲基 support 成立，但目前最穩的主規則仍是 caller-first。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6409944"/>
            <a:ext cx="813816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60" b="0" i="0">
                <a:solidFill>
                  <a:srgbClr val="52606D"/>
                </a:solidFill>
                <a:latin typeface="Arial"/>
              </a:rPr>
              <a:t>InterSubMod weekly research review deck rebuilt for oral presentation.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18520" y="6391656"/>
            <a:ext cx="4572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52606D"/>
                </a:solidFill>
                <a:latin typeface="Arial"/>
              </a:rPr>
              <a:t>7/14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E6D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8961120" cy="530352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2500" b="1" i="0">
                <a:solidFill>
                  <a:srgbClr val="17202A"/>
                </a:solidFill>
                <a:latin typeface="Noto Sans TC Bold"/>
              </a:rPr>
              <a:t>特徵分工重新定型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896112"/>
            <a:ext cx="8412480" cy="201168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100" b="0" i="0">
                <a:solidFill>
                  <a:srgbClr val="C76B50"/>
                </a:solidFill>
                <a:latin typeface="Arial"/>
              </a:rPr>
              <a:t>Feature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143000"/>
            <a:ext cx="10424160" cy="310896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300" b="0" i="0">
                <a:solidFill>
                  <a:srgbClr val="5E6572"/>
                </a:solidFill>
                <a:latin typeface="Noto Sans TC"/>
              </a:rPr>
              <a:t>這週已把特徵從『候選規則』重新整理成三種用途：主規則、support、annotation/QC/triage。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828800"/>
            <a:ext cx="3291840" cy="3383280"/>
          </a:xfrm>
          <a:prstGeom prst="roundRect">
            <a:avLst/>
          </a:prstGeom>
          <a:solidFill>
            <a:srgbClr val="1E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41832" y="1993392"/>
            <a:ext cx="2011680" cy="164592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500" b="1" i="0">
                <a:solidFill>
                  <a:srgbClr val="F8F4EE"/>
                </a:solidFill>
                <a:latin typeface="Noto Sans TC Bold"/>
              </a:rPr>
              <a:t>主規則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1832" y="2267712"/>
            <a:ext cx="2194560" cy="146304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050" b="0" i="0">
                <a:solidFill>
                  <a:srgbClr val="F8F4EE"/>
                </a:solidFill>
                <a:latin typeface="Arial"/>
              </a:rPr>
              <a:t>caller-first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1832" y="2633472"/>
            <a:ext cx="2743200" cy="10972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080">
                <a:solidFill>
                  <a:srgbClr val="F8F4EE"/>
                </a:solidFill>
                <a:latin typeface="Arial"/>
              </a:rPr>
              <a:t>GQ</a:t>
            </a:r>
          </a:p>
          <a:p>
            <a:pPr algn="l">
              <a:spcAft>
                <a:spcPts val="600"/>
              </a:spcAft>
            </a:pPr>
            <a:r>
              <a:rPr sz="1080">
                <a:solidFill>
                  <a:srgbClr val="F8F4EE"/>
                </a:solidFill>
                <a:latin typeface="Arial"/>
              </a:rPr>
              <a:t>QUAL</a:t>
            </a:r>
          </a:p>
          <a:p>
            <a:pPr algn="l">
              <a:spcAft>
                <a:spcPts val="600"/>
              </a:spcAft>
            </a:pPr>
            <a:r>
              <a:rPr sz="1080">
                <a:solidFill>
                  <a:srgbClr val="F8F4EE"/>
                </a:solidFill>
                <a:latin typeface="Arial"/>
              </a:rPr>
              <a:t>candidate eligibility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1832" y="4187952"/>
            <a:ext cx="2743200" cy="420624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000" b="0" i="0">
                <a:solidFill>
                  <a:srgbClr val="F8F4EE"/>
                </a:solidFill>
                <a:latin typeface="Noto Sans TC"/>
              </a:rPr>
              <a:t>最穩、跨 dataset 最一致，負責決定第一層可救回集合。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81144" y="1828800"/>
            <a:ext cx="3291840" cy="3383280"/>
          </a:xfrm>
          <a:prstGeom prst="roundRect">
            <a:avLst/>
          </a:prstGeom>
          <a:solidFill>
            <a:srgbClr val="C76B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45736" y="1993392"/>
            <a:ext cx="2011680" cy="164592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500" b="1" i="0">
                <a:solidFill>
                  <a:srgbClr val="F8F4EE"/>
                </a:solidFill>
                <a:latin typeface="Noto Sans TC Bold"/>
              </a:rPr>
              <a:t>第二層支持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45736" y="2267712"/>
            <a:ext cx="2194560" cy="146304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050" b="0" i="0">
                <a:solidFill>
                  <a:srgbClr val="F8F4EE"/>
                </a:solidFill>
                <a:latin typeface="Arial"/>
              </a:rPr>
              <a:t>methylation-support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45736" y="2633472"/>
            <a:ext cx="2743200" cy="10972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080">
                <a:solidFill>
                  <a:srgbClr val="F8F4EE"/>
                </a:solidFill>
                <a:latin typeface="Arial"/>
              </a:rPr>
              <a:t>Quality_Score</a:t>
            </a:r>
          </a:p>
          <a:p>
            <a:pPr algn="l">
              <a:spcAft>
                <a:spcPts val="600"/>
              </a:spcAft>
            </a:pPr>
            <a:r>
              <a:rPr sz="1080">
                <a:solidFill>
                  <a:srgbClr val="F8F4EE"/>
                </a:solidFill>
                <a:latin typeface="Arial"/>
              </a:rPr>
              <a:t>PairwiseMedianDist</a:t>
            </a:r>
          </a:p>
          <a:p>
            <a:pPr algn="l">
              <a:spcAft>
                <a:spcPts val="600"/>
              </a:spcAft>
            </a:pPr>
            <a:r>
              <a:rPr sz="1080">
                <a:solidFill>
                  <a:srgbClr val="F8F4EE"/>
                </a:solidFill>
                <a:latin typeface="Arial"/>
              </a:rPr>
              <a:t>agreement_positive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45736" y="4187952"/>
            <a:ext cx="2743200" cy="420624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000" b="0" i="0">
                <a:solidFill>
                  <a:srgbClr val="F8F4EE"/>
                </a:solidFill>
                <a:latin typeface="Noto Sans TC"/>
              </a:rPr>
              <a:t>在 TO 可提供額外 support，但方向可能依 dataset 改變。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385048" y="1828800"/>
            <a:ext cx="3291840" cy="3383280"/>
          </a:xfrm>
          <a:prstGeom prst="roundRect">
            <a:avLst/>
          </a:prstGeom>
          <a:solidFill>
            <a:srgbClr val="6E9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49640" y="1993392"/>
            <a:ext cx="2011680" cy="164592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500" b="1" i="0">
                <a:solidFill>
                  <a:srgbClr val="17202A"/>
                </a:solidFill>
                <a:latin typeface="Noto Sans TC Bold"/>
              </a:rPr>
              <a:t>註記與旁路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49640" y="2267712"/>
            <a:ext cx="2194560" cy="146304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050" b="0" i="0">
                <a:solidFill>
                  <a:srgbClr val="17202A"/>
                </a:solidFill>
                <a:latin typeface="Arial"/>
              </a:rPr>
              <a:t>annotation / QC / triage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49640" y="2633472"/>
            <a:ext cx="2743200" cy="10972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080">
                <a:solidFill>
                  <a:srgbClr val="17202A"/>
                </a:solidFill>
                <a:latin typeface="Arial"/>
              </a:rPr>
              <a:t>hp_assign_rate</a:t>
            </a:r>
          </a:p>
          <a:p>
            <a:pPr algn="l">
              <a:spcAft>
                <a:spcPts val="600"/>
              </a:spcAft>
            </a:pPr>
            <a:r>
              <a:rPr sz="1080">
                <a:solidFill>
                  <a:srgbClr val="17202A"/>
                </a:solidFill>
                <a:latin typeface="Arial"/>
              </a:rPr>
              <a:t>artifact_lowvaf_highad_lowcv</a:t>
            </a:r>
          </a:p>
          <a:p>
            <a:pPr algn="l">
              <a:spcAft>
                <a:spcPts val="600"/>
              </a:spcAft>
            </a:pPr>
            <a:r>
              <a:rPr sz="1080">
                <a:solidFill>
                  <a:srgbClr val="17202A"/>
                </a:solidFill>
                <a:latin typeface="Arial"/>
              </a:rPr>
              <a:t>dataset-aware flags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49640" y="4187952"/>
            <a:ext cx="2743200" cy="420624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000" b="0" i="0">
                <a:solidFill>
                  <a:srgbClr val="17202A"/>
                </a:solidFill>
                <a:latin typeface="Noto Sans TC"/>
              </a:rPr>
              <a:t>不直接做 keep/filter；負責解讀、QC 與 artifact 診斷。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7240" y="5486400"/>
            <a:ext cx="10744200" cy="4754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CC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60120" y="5623560"/>
            <a:ext cx="10241280" cy="146304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100" b="1" i="0">
                <a:solidFill>
                  <a:srgbClr val="17202A"/>
                </a:solidFill>
                <a:latin typeface="Noto Sans TC Bold"/>
              </a:rPr>
              <a:t>現階段最重要的不是再堆更多條件，而是把有訊息量但不夠穩定的特徵，明確放到正確層級。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" y="6409944"/>
            <a:ext cx="813816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60" b="0" i="0">
                <a:solidFill>
                  <a:srgbClr val="52606D"/>
                </a:solidFill>
                <a:latin typeface="Arial"/>
              </a:rPr>
              <a:t>InterSubMod weekly research review deck rebuilt for oral presentation.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18520" y="6391656"/>
            <a:ext cx="4572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52606D"/>
                </a:solidFill>
                <a:latin typeface="Arial"/>
              </a:rPr>
              <a:t>8/14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8961120" cy="530352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2500" b="1" i="0">
                <a:solidFill>
                  <a:srgbClr val="17202A"/>
                </a:solidFill>
                <a:latin typeface="Noto Sans TC Bold"/>
              </a:rPr>
              <a:t>關鍵特徵：哪些可升級、哪些不能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896112"/>
            <a:ext cx="8412480" cy="201168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100" b="0" i="0">
                <a:solidFill>
                  <a:srgbClr val="C76B50"/>
                </a:solidFill>
                <a:latin typeface="Arial"/>
              </a:rPr>
              <a:t>Feature roles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143000"/>
            <a:ext cx="10424160" cy="310896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300" b="0" i="0">
                <a:solidFill>
                  <a:srgbClr val="5E6572"/>
                </a:solidFill>
                <a:latin typeface="Noto Sans TC"/>
              </a:rPr>
              <a:t>看的是『目前最合理的定位』，不是單一 dataset 一時有效就直接升級成全域規則。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49808" y="1755648"/>
            <a:ext cx="5257800" cy="12070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CC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47088"/>
            <a:ext cx="2377440" cy="146304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160" b="1" i="0">
                <a:solidFill>
                  <a:srgbClr val="17202A"/>
                </a:solidFill>
                <a:latin typeface="Arial Bold"/>
              </a:rPr>
              <a:t>GQ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066543"/>
            <a:ext cx="3291840" cy="146304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019" b="1" i="0">
                <a:solidFill>
                  <a:srgbClr val="C76B50"/>
                </a:solidFill>
                <a:latin typeface="Noto Sans TC Bold"/>
              </a:rPr>
              <a:t>caller-first 主規則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22576"/>
            <a:ext cx="4663440" cy="18288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940" b="0" i="0">
                <a:solidFill>
                  <a:srgbClr val="52606D"/>
                </a:solidFill>
                <a:latin typeface="Noto Sans TC"/>
              </a:rPr>
              <a:t>意義：目前最穩定、跨 dataset 最一致的 rescue 訊號。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596896"/>
            <a:ext cx="4663440" cy="18288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940" b="0" i="0">
                <a:solidFill>
                  <a:srgbClr val="65707C"/>
                </a:solidFill>
                <a:latin typeface="Noto Sans TC"/>
              </a:rPr>
              <a:t>限制：不能直接解讀成 ClairS / ClairS-TO 一開始就應全域放寬；它更像 caller-side threshold / ranking 訊號。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35040" y="1755648"/>
            <a:ext cx="5257800" cy="12070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CC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99631" y="1847088"/>
            <a:ext cx="2377440" cy="146304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160" b="1" i="0">
                <a:solidFill>
                  <a:srgbClr val="17202A"/>
                </a:solidFill>
                <a:latin typeface="Arial Bold"/>
              </a:rPr>
              <a:t>Quality_Score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99631" y="2066543"/>
            <a:ext cx="3291840" cy="146304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019" b="1" i="0">
                <a:solidFill>
                  <a:srgbClr val="C76B50"/>
                </a:solidFill>
                <a:latin typeface="Noto Sans TC Bold"/>
              </a:rPr>
              <a:t>support annotation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99631" y="2322576"/>
            <a:ext cx="4663440" cy="18288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940" b="0" i="0">
                <a:solidFill>
                  <a:srgbClr val="52606D"/>
                </a:solidFill>
                <a:latin typeface="Noto Sans TC"/>
              </a:rPr>
              <a:t>意義：在兩個 TO dataset 都呈正向 support，適合排序與解讀。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99631" y="2596896"/>
            <a:ext cx="4663440" cy="18288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940" b="0" i="0">
                <a:solidFill>
                  <a:srgbClr val="65707C"/>
                </a:solidFill>
                <a:latin typeface="Noto Sans TC"/>
              </a:rPr>
              <a:t>限制：高 Quality 的 FP 仍存在，不應直接 hard keep。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49808" y="3246120"/>
            <a:ext cx="5257800" cy="12070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CC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3337560"/>
            <a:ext cx="2377440" cy="146304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160" b="1" i="0">
                <a:solidFill>
                  <a:srgbClr val="17202A"/>
                </a:solidFill>
                <a:latin typeface="Arial Bold"/>
              </a:rPr>
              <a:t>PairwiseMedianDist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3557015"/>
            <a:ext cx="3291840" cy="146304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019" b="1" i="0">
                <a:solidFill>
                  <a:srgbClr val="C76B50"/>
                </a:solidFill>
                <a:latin typeface="Noto Sans TC Bold"/>
              </a:rPr>
              <a:t>dataset-aware support annotation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3813048"/>
            <a:ext cx="4663440" cy="18288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940" b="0" i="0">
                <a:solidFill>
                  <a:srgbClr val="52606D"/>
                </a:solidFill>
                <a:latin typeface="Noto Sans TC"/>
              </a:rPr>
              <a:t>意義：5kHz TO 偏高 pairwise；DORADO paired / TO 偏低 pairwise。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087368"/>
            <a:ext cx="4663440" cy="18288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940" b="0" i="0">
                <a:solidFill>
                  <a:srgbClr val="65707C"/>
                </a:solidFill>
                <a:latin typeface="Noto Sans TC"/>
              </a:rPr>
              <a:t>限制：方向具樣本依賴，不能升級成全域規則；目前更像 dataset-specific 結構 / noise proxy。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035040" y="3246120"/>
            <a:ext cx="5257800" cy="12070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CC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99631" y="3337560"/>
            <a:ext cx="2377440" cy="146304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160" b="1" i="0">
                <a:solidFill>
                  <a:srgbClr val="17202A"/>
                </a:solidFill>
                <a:latin typeface="Arial Bold"/>
              </a:rPr>
              <a:t>agreement_positive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99631" y="3557015"/>
            <a:ext cx="3291840" cy="146304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019" b="1" i="0">
                <a:solidFill>
                  <a:srgbClr val="C76B50"/>
                </a:solidFill>
                <a:latin typeface="Noto Sans TC Bold"/>
              </a:rPr>
              <a:t>label-support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99631" y="3813048"/>
            <a:ext cx="4663440" cy="18288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940" b="0" i="0">
                <a:solidFill>
                  <a:srgbClr val="52606D"/>
                </a:solidFill>
                <a:latin typeface="Noto Sans TC"/>
              </a:rPr>
              <a:t>意義：在 5kHz TO 比單純 Strong/Subclone 更乾淨。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99631" y="4087368"/>
            <a:ext cx="4663440" cy="18288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940" b="0" i="0">
                <a:solidFill>
                  <a:srgbClr val="65707C"/>
                </a:solidFill>
                <a:latin typeface="Noto Sans TC"/>
              </a:rPr>
              <a:t>限制：尚未證明跨樣本穩定。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49808" y="4736592"/>
            <a:ext cx="5257800" cy="12070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CC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4400" y="4828031"/>
            <a:ext cx="2377440" cy="146304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160" b="1" i="0">
                <a:solidFill>
                  <a:srgbClr val="17202A"/>
                </a:solidFill>
                <a:latin typeface="Arial Bold"/>
              </a:rPr>
              <a:t>hp_assign_rate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" y="5047488"/>
            <a:ext cx="3291840" cy="146304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019" b="1" i="0">
                <a:solidFill>
                  <a:srgbClr val="C76B50"/>
                </a:solidFill>
                <a:latin typeface="Noto Sans TC Bold"/>
              </a:rPr>
              <a:t>phase / QC annotation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" y="5303520"/>
            <a:ext cx="4663440" cy="18288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940" b="0" i="0">
                <a:solidFill>
                  <a:srgbClr val="52606D"/>
                </a:solidFill>
                <a:latin typeface="Noto Sans TC"/>
              </a:rPr>
              <a:t>意義：反映 HP 可分派性與 phase completeness。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5577840"/>
            <a:ext cx="4663440" cy="18288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940" b="0" i="0">
                <a:solidFill>
                  <a:srgbClr val="65707C"/>
                </a:solidFill>
                <a:latin typeface="Noto Sans TC"/>
              </a:rPr>
              <a:t>限制：TP 與 FP 都可能很高，不能當 truth-level keep 規則。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035040" y="4736592"/>
            <a:ext cx="5257800" cy="12070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CC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199631" y="4828031"/>
            <a:ext cx="2377440" cy="146304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160" b="1" i="0">
                <a:solidFill>
                  <a:srgbClr val="17202A"/>
                </a:solidFill>
                <a:latin typeface="Arial Bold"/>
              </a:rPr>
              <a:t>low VAF + high AD + low CV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199631" y="5047488"/>
            <a:ext cx="3291840" cy="146304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019" b="1" i="0">
                <a:solidFill>
                  <a:srgbClr val="C76B50"/>
                </a:solidFill>
                <a:latin typeface="Noto Sans TC Bold"/>
              </a:rPr>
              <a:t>artifact triage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199631" y="5303520"/>
            <a:ext cx="4663440" cy="18288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940" b="0" i="0">
                <a:solidFill>
                  <a:srgbClr val="52606D"/>
                </a:solidFill>
                <a:latin typeface="Noto Sans TC"/>
              </a:rPr>
              <a:t>意義：對 5kHz 的後段刪 FP 有價值。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199631" y="5577840"/>
            <a:ext cx="4663440" cy="18288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940" b="0" i="0">
                <a:solidFill>
                  <a:srgbClr val="65707C"/>
                </a:solidFill>
                <a:latin typeface="Noto Sans TC"/>
              </a:rPr>
              <a:t>限制：不適合作 TP rescue 主規則，也不能直接前置化。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8368" y="6409944"/>
            <a:ext cx="813816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60" b="0" i="0">
                <a:solidFill>
                  <a:srgbClr val="52606D"/>
                </a:solidFill>
                <a:latin typeface="Arial"/>
              </a:rPr>
              <a:t>InterSubMod weekly research review deck rebuilt for oral presentation.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018520" y="6391656"/>
            <a:ext cx="4572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52606D"/>
                </a:solidFill>
                <a:latin typeface="Arial"/>
              </a:rPr>
              <a:t>9/14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E6D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8961120" cy="530352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2500" b="1" i="0">
                <a:solidFill>
                  <a:srgbClr val="17202A"/>
                </a:solidFill>
                <a:latin typeface="Noto Sans TC Bold"/>
              </a:rPr>
              <a:t>phase 2：raw caller 的邊界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896112"/>
            <a:ext cx="8412480" cy="201168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100" b="0" i="0">
                <a:solidFill>
                  <a:srgbClr val="C76B50"/>
                </a:solidFill>
                <a:latin typeface="Arial"/>
              </a:rPr>
              <a:t>Paired raw benchmark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143000"/>
            <a:ext cx="10424160" cy="310896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300" b="0" i="0">
                <a:solidFill>
                  <a:srgbClr val="5E6572"/>
                </a:solidFill>
                <a:latin typeface="Noto Sans TC"/>
              </a:rPr>
              <a:t>paired raw pileup / full model 有額外召回，但 precision 代價太大，不能直接取代 merged caller。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49808" y="1755648"/>
            <a:ext cx="658368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CC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phase2_ra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688" y="1938528"/>
            <a:ext cx="6236208" cy="36118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32688" y="5486400"/>
            <a:ext cx="5852160" cy="201168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919" b="0" i="0">
                <a:solidFill>
                  <a:srgbClr val="52606D"/>
                </a:solidFill>
                <a:latin typeface="Noto Sans TC"/>
              </a:rPr>
              <a:t>圖表解讀｜每個 panel 都是 paired 場景；X 軸為 F1，Y 軸為 caller 層級來源。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543800" y="1755648"/>
            <a:ext cx="3749039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CC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54112" y="1920240"/>
            <a:ext cx="2011680" cy="164592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480" b="1" i="0">
                <a:solidFill>
                  <a:srgbClr val="17202A"/>
                </a:solidFill>
                <a:latin typeface="Noto Sans TC Bold"/>
              </a:rPr>
              <a:t>這頁要傳達的重點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99248" y="2267712"/>
            <a:ext cx="3154680" cy="16276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070">
                <a:solidFill>
                  <a:srgbClr val="17202A"/>
                </a:solidFill>
                <a:latin typeface="Noto Sans TC"/>
              </a:rPr>
              <a:t>5kHz paired：raw pileup / full 都比 merged 更高召回，但 precision 崩得更快。</a:t>
            </a:r>
          </a:p>
          <a:p>
            <a:pPr algn="l">
              <a:spcAft>
                <a:spcPts val="600"/>
              </a:spcAft>
            </a:pPr>
            <a:r>
              <a:rPr sz="1070">
                <a:solidFill>
                  <a:srgbClr val="17202A"/>
                </a:solidFill>
                <a:latin typeface="Noto Sans TC"/>
              </a:rPr>
              <a:t>DORADO paired：raw full 優於 raw pileup，但仍低於 merged output。</a:t>
            </a:r>
          </a:p>
          <a:p>
            <a:pPr algn="l">
              <a:spcAft>
                <a:spcPts val="600"/>
              </a:spcAft>
            </a:pPr>
            <a:r>
              <a:rPr sz="1070">
                <a:solidFill>
                  <a:srgbClr val="17202A"/>
                </a:solidFill>
                <a:latin typeface="Noto Sans TC"/>
              </a:rPr>
              <a:t>paired 問題下，raw caller 更適合拿來理解 recall 空間，不適合直接當最終輸出。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699248" y="4315968"/>
            <a:ext cx="3182112" cy="822960"/>
          </a:xfrm>
          <a:prstGeom prst="roundRect">
            <a:avLst/>
          </a:prstGeom>
          <a:solidFill>
            <a:srgbClr val="1E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936992" y="4553712"/>
            <a:ext cx="2697480" cy="310896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ctr"/>
            <a:r>
              <a:rPr sz="1220" b="1" i="0">
                <a:solidFill>
                  <a:srgbClr val="F8F4EE"/>
                </a:solidFill>
                <a:latin typeface="Noto Sans TC Bold"/>
              </a:rPr>
              <a:t>正式主線仍應維持
merged caller → LongPhase → InterSubMod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6409944"/>
            <a:ext cx="813816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60" b="0" i="0">
                <a:solidFill>
                  <a:srgbClr val="52606D"/>
                </a:solidFill>
                <a:latin typeface="Arial"/>
              </a:rPr>
              <a:t>InterSubMod weekly research review deck rebuilt for oral presentation.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18520" y="6391656"/>
            <a:ext cx="4572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52606D"/>
                </a:solidFill>
                <a:latin typeface="Arial"/>
              </a:rPr>
              <a:t>10/14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8961120" cy="530352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2500" b="1" i="0">
                <a:solidFill>
                  <a:srgbClr val="17202A"/>
                </a:solidFill>
                <a:latin typeface="Noto Sans TC Bold"/>
              </a:rPr>
              <a:t>annotation layer：目前該做的整合層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896112"/>
            <a:ext cx="8412480" cy="201168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100" b="0" i="0">
                <a:solidFill>
                  <a:srgbClr val="C76B50"/>
                </a:solidFill>
                <a:latin typeface="Arial"/>
              </a:rPr>
              <a:t>Annotation-layer decision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143000"/>
            <a:ext cx="10424160" cy="310896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300" b="0" i="0">
                <a:solidFill>
                  <a:srgbClr val="5E6572"/>
                </a:solidFill>
                <a:latin typeface="Noto Sans TC"/>
              </a:rPr>
              <a:t>phase 2 的 finer interval 已足夠回接 annotation，但還不到改 hard keep / hard filter 的時候。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49808" y="1755648"/>
            <a:ext cx="5989320" cy="4434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CC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annotation_polic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688" y="1965960"/>
            <a:ext cx="5577840" cy="30632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32688" y="5230368"/>
            <a:ext cx="5394960" cy="201168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919" b="0" i="0">
                <a:solidFill>
                  <a:srgbClr val="52606D"/>
                </a:solidFill>
                <a:latin typeface="Noto Sans TC"/>
              </a:rPr>
              <a:t>圖表解讀｜顯示四個 dataset 在目前最佳 policy 下，相對 baseline 的 ΔF1。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995160" y="1755648"/>
            <a:ext cx="4270248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CC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223760" y="1901952"/>
            <a:ext cx="1645920" cy="146304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260" b="1" i="0">
                <a:solidFill>
                  <a:srgbClr val="C76B50"/>
                </a:solidFill>
                <a:latin typeface="Arial Bold"/>
              </a:rPr>
              <a:t>Quality_Score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23760" y="2212848"/>
            <a:ext cx="3657600" cy="164592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030" b="0" i="0">
                <a:solidFill>
                  <a:srgbClr val="17202A"/>
                </a:solidFill>
                <a:latin typeface="Noto Sans TC"/>
              </a:rPr>
              <a:t>升級為 support annotation，適合排序、報告與人工審閱。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995160" y="3090672"/>
            <a:ext cx="4270248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CC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23760" y="3236976"/>
            <a:ext cx="2194560" cy="146304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260" b="1" i="0">
                <a:solidFill>
                  <a:srgbClr val="C76B50"/>
                </a:solidFill>
                <a:latin typeface="Arial Bold"/>
              </a:rPr>
              <a:t>PairwiseMedianDist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23760" y="3547872"/>
            <a:ext cx="3657600" cy="164592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030" b="0" i="0">
                <a:solidFill>
                  <a:srgbClr val="17202A"/>
                </a:solidFill>
                <a:latin typeface="Noto Sans TC"/>
              </a:rPr>
              <a:t>升級為 dataset-aware support annotation，不可直接寫成跨樣本全域規則。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995160" y="4425696"/>
            <a:ext cx="4270248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CC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223760" y="4572000"/>
            <a:ext cx="1828800" cy="146304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260" b="1" i="0">
                <a:solidFill>
                  <a:srgbClr val="C76B50"/>
                </a:solidFill>
                <a:latin typeface="Arial Bold"/>
              </a:rPr>
              <a:t>hp_assign_rate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23760" y="4882896"/>
            <a:ext cx="3657600" cy="164592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030" b="0" i="0">
                <a:solidFill>
                  <a:srgbClr val="17202A"/>
                </a:solidFill>
                <a:latin typeface="Noto Sans TC"/>
              </a:rPr>
              <a:t>明確降階為 phase / QC annotation；反映相位完整度，不直接做 truth keep。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6409944"/>
            <a:ext cx="813816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60" b="0" i="0">
                <a:solidFill>
                  <a:srgbClr val="52606D"/>
                </a:solidFill>
                <a:latin typeface="Arial"/>
              </a:rPr>
              <a:t>InterSubMod weekly research review deck rebuilt for oral presentation.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18520" y="6391656"/>
            <a:ext cx="4572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52606D"/>
                </a:solidFill>
                <a:latin typeface="Arial"/>
              </a:rPr>
              <a:t>11/14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8961120" cy="530352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2500" b="1" i="0">
                <a:solidFill>
                  <a:srgbClr val="F8F4EE"/>
                </a:solidFill>
                <a:latin typeface="Noto Sans TC Bold"/>
              </a:rPr>
              <a:t>還沒完成的邊界與風險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896112"/>
            <a:ext cx="8412480" cy="201168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100" b="0" i="0">
                <a:solidFill>
                  <a:srgbClr val="C76B50"/>
                </a:solidFill>
                <a:latin typeface="Arial"/>
              </a:rPr>
              <a:t>Open gaps and caveats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143000"/>
            <a:ext cx="10424160" cy="310896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300" b="0" i="0">
                <a:solidFill>
                  <a:srgbClr val="D6DCE5"/>
                </a:solidFill>
                <a:latin typeface="Noto Sans TC"/>
              </a:rPr>
              <a:t>這頁要交代的是：哪些結論已可定稿、哪些仍需保守解讀。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49808" y="1874519"/>
            <a:ext cx="3310128" cy="3977639"/>
          </a:xfrm>
          <a:prstGeom prst="roundRect">
            <a:avLst/>
          </a:prstGeom>
          <a:solidFill>
            <a:srgbClr val="F4EF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50976" y="2048256"/>
            <a:ext cx="2121408" cy="164592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420" b="1" i="0">
                <a:solidFill>
                  <a:srgbClr val="17202A"/>
                </a:solidFill>
                <a:latin typeface="Noto Sans TC Bold"/>
              </a:rPr>
              <a:t>coverage 天花板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50976" y="2322576"/>
            <a:ext cx="1828800" cy="128016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980" b="1" i="0">
                <a:solidFill>
                  <a:srgbClr val="C76B50"/>
                </a:solidFill>
                <a:latin typeface="Arial"/>
              </a:rPr>
              <a:t>coverage ceiling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6" y="2651760"/>
            <a:ext cx="2743200" cy="132588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080" b="0" i="0">
                <a:solidFill>
                  <a:srgbClr val="17202A"/>
                </a:solidFill>
                <a:latin typeface="Noto Sans TC"/>
              </a:rPr>
              <a:t>paired 的 candidate-specific coverage 只有 8%~20%，因此 paired 的甲基無效不能直接解讀成完全沒有價值。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62272" y="1874519"/>
            <a:ext cx="3310128" cy="3977639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63440" y="2048256"/>
            <a:ext cx="2121408" cy="164592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420" b="1" i="0">
                <a:solidFill>
                  <a:srgbClr val="17202A"/>
                </a:solidFill>
                <a:latin typeface="Noto Sans TC Bold"/>
              </a:rPr>
              <a:t>模型缺口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2322576"/>
            <a:ext cx="1828800" cy="128016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980" b="1" i="0">
                <a:solidFill>
                  <a:srgbClr val="C76B50"/>
                </a:solidFill>
                <a:latin typeface="Arial"/>
              </a:rPr>
              <a:t>model gap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2651760"/>
            <a:ext cx="2743200" cy="132588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080" b="0" i="0">
                <a:solidFill>
                  <a:srgbClr val="17202A"/>
                </a:solidFill>
                <a:latin typeface="Noto Sans TC"/>
              </a:rPr>
              <a:t>TO 的 pileup vs full model 尚未補齊雙模型直接對照，因此 TO 模型差異目前只以 pileup 路線為主。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74736" y="1874519"/>
            <a:ext cx="3310128" cy="3977639"/>
          </a:xfrm>
          <a:prstGeom prst="roundRect">
            <a:avLst/>
          </a:prstGeom>
          <a:solidFill>
            <a:srgbClr val="E9D8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75904" y="2048256"/>
            <a:ext cx="2121408" cy="164592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420" b="1" i="0">
                <a:solidFill>
                  <a:srgbClr val="17202A"/>
                </a:solidFill>
                <a:latin typeface="Noto Sans TC Bold"/>
              </a:rPr>
              <a:t>解讀限制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75904" y="2322576"/>
            <a:ext cx="1828800" cy="128016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980" b="1" i="0">
                <a:solidFill>
                  <a:srgbClr val="C76B50"/>
                </a:solidFill>
                <a:latin typeface="Arial"/>
              </a:rPr>
              <a:t>scope caveat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75904" y="2651760"/>
            <a:ext cx="2743200" cy="132588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080" b="0" i="0">
                <a:solidFill>
                  <a:srgbClr val="17202A"/>
                </a:solidFill>
                <a:latin typeface="Noto Sans TC"/>
              </a:rPr>
              <a:t>5kHz TO 與 DORADO TO 的 snapshot scope 不同，read-level 圖只能做方向比較；Pool B FN 仍有 caller-side rescue 空間。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6409944"/>
            <a:ext cx="813816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60" b="0" i="0">
                <a:solidFill>
                  <a:srgbClr val="D6DCE5"/>
                </a:solidFill>
                <a:latin typeface="Arial"/>
              </a:rPr>
              <a:t>InterSubMod weekly research review deck rebuilt for oral presentation.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18520" y="6391656"/>
            <a:ext cx="4572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D6DCE5"/>
                </a:solidFill>
                <a:latin typeface="Arial"/>
              </a:rPr>
              <a:t>12/14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8961120" cy="530352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2500" b="1" i="0">
                <a:solidFill>
                  <a:srgbClr val="17202A"/>
                </a:solidFill>
                <a:latin typeface="Noto Sans TC Bold"/>
              </a:rPr>
              <a:t>下一步與現在不該做的事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896112"/>
            <a:ext cx="8412480" cy="201168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100" b="0" i="0">
                <a:solidFill>
                  <a:srgbClr val="C76B50"/>
                </a:solidFill>
                <a:latin typeface="Arial"/>
              </a:rPr>
              <a:t>Next actions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143000"/>
            <a:ext cx="10424160" cy="310896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300" b="0" i="0">
                <a:solidFill>
                  <a:srgbClr val="5E6572"/>
                </a:solidFill>
                <a:latin typeface="Noto Sans TC"/>
              </a:rPr>
              <a:t>接下來應優先把 annotation 接到輸出層，而不是急著改核心 hard filter。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49808" y="1755648"/>
            <a:ext cx="6492240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CC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87552" y="2057400"/>
            <a:ext cx="512064" cy="512064"/>
          </a:xfrm>
          <a:prstGeom prst="roundRect">
            <a:avLst/>
          </a:prstGeom>
          <a:solidFill>
            <a:srgbClr val="1E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" y="2212848"/>
            <a:ext cx="164592" cy="109728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ctr"/>
            <a:r>
              <a:rPr sz="1060" b="1" i="0">
                <a:solidFill>
                  <a:srgbClr val="F8F4EE"/>
                </a:solidFill>
                <a:latin typeface="Arial Bold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91640" y="2148840"/>
            <a:ext cx="5074920" cy="237744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120" b="0" i="0">
                <a:solidFill>
                  <a:srgbClr val="17202A"/>
                </a:solidFill>
                <a:latin typeface="Noto Sans TC"/>
              </a:rPr>
              <a:t>把 annotation 接到 round summary / dashboard / diagnostics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87552" y="2971800"/>
            <a:ext cx="512064" cy="512064"/>
          </a:xfrm>
          <a:prstGeom prst="roundRect">
            <a:avLst/>
          </a:prstGeom>
          <a:solidFill>
            <a:srgbClr val="1E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43000" y="3127248"/>
            <a:ext cx="164592" cy="109728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ctr"/>
            <a:r>
              <a:rPr sz="1060" b="1" i="0">
                <a:solidFill>
                  <a:srgbClr val="F8F4EE"/>
                </a:solidFill>
                <a:latin typeface="Arial Bold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91640" y="3063240"/>
            <a:ext cx="5074920" cy="237744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120" b="0" i="0">
                <a:solidFill>
                  <a:srgbClr val="17202A"/>
                </a:solidFill>
                <a:latin typeface="Noto Sans TC"/>
              </a:rPr>
              <a:t>繼續累積 finer interval 與 orthogonality 的 cross-dataset 證據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87552" y="3886200"/>
            <a:ext cx="512064" cy="512064"/>
          </a:xfrm>
          <a:prstGeom prst="roundRect">
            <a:avLst/>
          </a:prstGeom>
          <a:solidFill>
            <a:srgbClr val="1E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43000" y="4041648"/>
            <a:ext cx="164592" cy="109728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ctr"/>
            <a:r>
              <a:rPr sz="1060" b="1" i="0">
                <a:solidFill>
                  <a:srgbClr val="F8F4EE"/>
                </a:solidFill>
                <a:latin typeface="Arial Bold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91640" y="3977639"/>
            <a:ext cx="5074920" cy="237744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120" b="0" i="0">
                <a:solidFill>
                  <a:srgbClr val="17202A"/>
                </a:solidFill>
                <a:latin typeface="Noto Sans TC"/>
              </a:rPr>
              <a:t>若要升級規則，先升級成 annotation export，不直接改核心過濾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87552" y="4800600"/>
            <a:ext cx="512064" cy="512064"/>
          </a:xfrm>
          <a:prstGeom prst="roundRect">
            <a:avLst/>
          </a:prstGeom>
          <a:solidFill>
            <a:srgbClr val="1E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43000" y="4956048"/>
            <a:ext cx="164592" cy="109728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ctr"/>
            <a:r>
              <a:rPr sz="1060" b="1" i="0">
                <a:solidFill>
                  <a:srgbClr val="F8F4EE"/>
                </a:solidFill>
                <a:latin typeface="Arial Bold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91640" y="4892040"/>
            <a:ext cx="5074920" cy="237744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120" b="0" i="0">
                <a:solidFill>
                  <a:srgbClr val="17202A"/>
                </a:solidFill>
                <a:latin typeface="Noto Sans TC"/>
              </a:rPr>
              <a:t>保留 5kHz artifact triage 作 dataset-specific 診斷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79792" y="1755648"/>
            <a:ext cx="3794760" cy="4526280"/>
          </a:xfrm>
          <a:prstGeom prst="roundRect">
            <a:avLst/>
          </a:prstGeom>
          <a:solidFill>
            <a:srgbClr val="C76B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26679" y="1965960"/>
            <a:ext cx="1828800" cy="164592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540" b="1" i="0">
                <a:solidFill>
                  <a:srgbClr val="F8F4EE"/>
                </a:solidFill>
                <a:latin typeface="Noto Sans TC Bold"/>
              </a:rPr>
              <a:t>現在不該做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99248" y="2331720"/>
            <a:ext cx="3063240" cy="20116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080">
                <a:solidFill>
                  <a:srgbClr val="F8F4EE"/>
                </a:solidFill>
                <a:latin typeface="Noto Sans TC"/>
              </a:rPr>
              <a:t>不要把 Quality 或 Pairwise 直接變成新的 hard keep。</a:t>
            </a:r>
          </a:p>
          <a:p>
            <a:pPr algn="l">
              <a:spcAft>
                <a:spcPts val="600"/>
              </a:spcAft>
            </a:pPr>
            <a:r>
              <a:rPr sz="1080">
                <a:solidFill>
                  <a:srgbClr val="F8F4EE"/>
                </a:solidFill>
                <a:latin typeface="Noto Sans TC"/>
              </a:rPr>
              <a:t>不要把 artifact-veto 直接拿去做 TP rescue 主規則。</a:t>
            </a:r>
          </a:p>
          <a:p>
            <a:pPr algn="l">
              <a:spcAft>
                <a:spcPts val="600"/>
              </a:spcAft>
            </a:pPr>
            <a:r>
              <a:rPr sz="1080">
                <a:solidFill>
                  <a:srgbClr val="F8F4EE"/>
                </a:solidFill>
                <a:latin typeface="Noto Sans TC"/>
              </a:rPr>
              <a:t>不要把 5kHz 單一 dataset 的 Pairwise 方向寫成跨樣本結論。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699248" y="5074920"/>
            <a:ext cx="3063240" cy="749808"/>
          </a:xfrm>
          <a:prstGeom prst="roundRect">
            <a:avLst/>
          </a:prstGeom>
          <a:solidFill>
            <a:srgbClr val="1E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882127" y="5330952"/>
            <a:ext cx="2697480" cy="219456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040" b="1" i="0">
                <a:solidFill>
                  <a:srgbClr val="F8F4EE"/>
                </a:solidFill>
                <a:latin typeface="Noto Sans TC Bold"/>
              </a:rPr>
              <a:t>原則：先用 annotation 解決可解釋性，再考慮是否值得改核心決策。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" y="6409944"/>
            <a:ext cx="813816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60" b="0" i="0">
                <a:solidFill>
                  <a:srgbClr val="52606D"/>
                </a:solidFill>
                <a:latin typeface="Arial"/>
              </a:rPr>
              <a:t>InterSubMod weekly research review deck rebuilt for oral presentation.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18520" y="6391656"/>
            <a:ext cx="4572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52606D"/>
                </a:solidFill>
                <a:latin typeface="Arial"/>
              </a:rPr>
              <a:t>13/14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E6D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8961120" cy="530352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2500" b="1" i="0">
                <a:solidFill>
                  <a:srgbClr val="17202A"/>
                </a:solidFill>
                <a:latin typeface="Noto Sans TC Bold"/>
              </a:rPr>
              <a:t>複查路徑與再生成方式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896112"/>
            <a:ext cx="8412480" cy="201168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100" b="0" i="0">
                <a:solidFill>
                  <a:srgbClr val="C76B50"/>
                </a:solidFill>
                <a:latin typeface="Arial"/>
              </a:rPr>
              <a:t>Traceability and rerun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143000"/>
            <a:ext cx="10424160" cy="310896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300" b="0" i="0">
                <a:solidFill>
                  <a:srgbClr val="5E6572"/>
                </a:solidFill>
                <a:latin typeface="Noto Sans TC"/>
              </a:rPr>
              <a:t>這份 deck 的來源、版本與重生設定都已獨立整理，方便之後重跑或換版。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49808" y="1755648"/>
            <a:ext cx="3840480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CC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754880" y="1755648"/>
            <a:ext cx="2926080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CC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845552" y="1755648"/>
            <a:ext cx="3419856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CC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50976" y="1956816"/>
            <a:ext cx="1463040" cy="164592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500" b="1" i="0">
                <a:solidFill>
                  <a:srgbClr val="17202A"/>
                </a:solidFill>
                <a:latin typeface="Noto Sans TC Bold"/>
              </a:rPr>
              <a:t>核心文件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0976" y="2267712"/>
            <a:ext cx="1554480" cy="146304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100" b="1" i="0">
                <a:solidFill>
                  <a:srgbClr val="C76B50"/>
                </a:solidFill>
                <a:latin typeface="Noto Sans TC Bold"/>
              </a:rPr>
              <a:t>主週報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0976" y="2468880"/>
            <a:ext cx="3246120" cy="658368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830" b="0" i="0">
                <a:solidFill>
                  <a:srgbClr val="52606D"/>
                </a:solidFill>
                <a:latin typeface="Arial"/>
              </a:rPr>
              <a:t>/big8_disk/liaoyoyo2001/
InterSubMod/docs/reports/
validated/2026/03/20260311_
研究主線週報_20260305_20260311_…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0976" y="3319272"/>
            <a:ext cx="1554480" cy="146304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100" b="1" i="0">
                <a:solidFill>
                  <a:srgbClr val="C76B50"/>
                </a:solidFill>
                <a:latin typeface="Noto Sans TC Bold"/>
              </a:rPr>
              <a:t>phase 2 報告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0976" y="3520440"/>
            <a:ext cx="3246120" cy="658368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830" b="0" i="0">
                <a:solidFill>
                  <a:srgbClr val="52606D"/>
                </a:solidFill>
                <a:latin typeface="Arial"/>
              </a:rPr>
              <a:t>/big8_disk/liaoyoyo2001/
InterSubMod/docs/experiments
/in_progress/2026/03/
20260311_phase2_paired_…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0976" y="4370831"/>
            <a:ext cx="1554480" cy="146304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100" b="1" i="0">
                <a:solidFill>
                  <a:srgbClr val="C76B50"/>
                </a:solidFill>
                <a:latin typeface="Noto Sans TC Bold"/>
              </a:rPr>
              <a:t>annotation 報告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0976" y="4571999"/>
            <a:ext cx="3246120" cy="658368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830" b="0" i="0">
                <a:solidFill>
                  <a:srgbClr val="52606D"/>
                </a:solidFill>
                <a:latin typeface="Arial"/>
              </a:rPr>
              <a:t>/big8_disk/liaoyoyo2001/
InterSubMod/docs/experiments
/in_progress/2026/03/
20260311_phase2_finer_…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56048" y="1956816"/>
            <a:ext cx="1371600" cy="164592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500" b="1" i="0">
                <a:solidFill>
                  <a:srgbClr val="17202A"/>
                </a:solidFill>
                <a:latin typeface="Noto Sans TC Bold"/>
              </a:rPr>
              <a:t>主要數據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56048" y="2267712"/>
            <a:ext cx="1920240" cy="146304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080" b="1" i="0">
                <a:solidFill>
                  <a:srgbClr val="C76B50"/>
                </a:solidFill>
                <a:latin typeface="Noto Sans TC Bold"/>
              </a:rPr>
              <a:t>paired raw benchmark TSV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56048" y="2468880"/>
            <a:ext cx="2331720" cy="82296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770" b="0" i="0">
                <a:solidFill>
                  <a:srgbClr val="52606D"/>
                </a:solidFill>
                <a:latin typeface="Arial"/>
              </a:rPr>
              <a:t>/big8_disk/liaoyoyo2001/
InterSubMod_runs/output/
big8_disk_output/
research_rounds/20260311
_phase2_paired_model_…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56048" y="3730752"/>
            <a:ext cx="1920240" cy="146304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080" b="1" i="0">
                <a:solidFill>
                  <a:srgbClr val="C76B50"/>
                </a:solidFill>
                <a:latin typeface="Noto Sans TC Bold"/>
              </a:rPr>
              <a:t>annotation best policy TSV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56048" y="3931920"/>
            <a:ext cx="2331720" cy="82296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770" b="0" i="0">
                <a:solidFill>
                  <a:srgbClr val="52606D"/>
                </a:solidFill>
                <a:latin typeface="Arial"/>
              </a:rPr>
              <a:t>/big8_disk/liaoyoyo2001/
InterSubMod_runs/output/
big8_disk_output/
research_rounds/20260311
_phase2_annotation_laye…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46720" y="1956816"/>
            <a:ext cx="1645920" cy="164592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500" b="1" i="0">
                <a:solidFill>
                  <a:srgbClr val="17202A"/>
                </a:solidFill>
                <a:latin typeface="Noto Sans TC Bold"/>
              </a:rPr>
              <a:t>版本與重生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46720" y="2286000"/>
            <a:ext cx="1280160" cy="146304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000" b="1" i="0">
                <a:solidFill>
                  <a:srgbClr val="C76B50"/>
                </a:solidFill>
                <a:latin typeface="Arial"/>
              </a:rPr>
              <a:t>version json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46720" y="2487168"/>
            <a:ext cx="2697480" cy="347472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840" b="0" i="0">
                <a:solidFill>
                  <a:srgbClr val="52606D"/>
                </a:solidFill>
                <a:latin typeface="Arial"/>
              </a:rPr>
              <a:t>20260311_研究主線週報_20260305_20260311_phase2_annotation整合_oral_v01.version.json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46720" y="3063240"/>
            <a:ext cx="1097280" cy="146304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000" b="1" i="0">
                <a:solidFill>
                  <a:srgbClr val="C76B50"/>
                </a:solidFill>
                <a:latin typeface="Arial"/>
              </a:rPr>
              <a:t>deck path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46720" y="3264408"/>
            <a:ext cx="2743200" cy="438912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840" b="0" i="0">
                <a:solidFill>
                  <a:srgbClr val="52606D"/>
                </a:solidFill>
                <a:latin typeface="Arial"/>
              </a:rPr>
              <a:t>20260311_研究主線週報_20260305_20260311_phase2_annotation整合_oral_v01.pptx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46720" y="3977639"/>
            <a:ext cx="914400" cy="146304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000" b="1" i="0">
                <a:solidFill>
                  <a:srgbClr val="C76B50"/>
                </a:solidFill>
                <a:latin typeface="Arial"/>
              </a:rPr>
              <a:t>rerun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46720" y="4206240"/>
            <a:ext cx="2697480" cy="932688"/>
          </a:xfrm>
          <a:prstGeom prst="roundRect">
            <a:avLst/>
          </a:prstGeom>
          <a:solidFill>
            <a:srgbClr val="1E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47888" y="4407408"/>
            <a:ext cx="2286000" cy="658368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720" b="0" i="0">
                <a:solidFill>
                  <a:srgbClr val="F8F4EE"/>
                </a:solidFill>
                <a:latin typeface="Arial"/>
              </a:rPr>
              <a:t>python build_weekly_report_pptx_oral_v2.py
--config 20260311_weekly_report_pptx_oral_config_01.json
--profile 20260311_liao_research_ppt_profile_01.json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46720" y="5413248"/>
            <a:ext cx="2743200" cy="310896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860" b="0" i="0">
                <a:solidFill>
                  <a:srgbClr val="52606D"/>
                </a:solidFill>
                <a:latin typeface="Noto Sans TC"/>
              </a:rPr>
              <a:t>完整絕對路徑仍保留在主週報、設定檔與 version.json；本頁優先保證可口頭說明與快速複查。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" y="6409944"/>
            <a:ext cx="813816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60" b="0" i="0">
                <a:solidFill>
                  <a:srgbClr val="52606D"/>
                </a:solidFill>
                <a:latin typeface="Arial"/>
              </a:rPr>
              <a:t>InterSubMod weekly research review deck rebuilt for oral presentation.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018520" y="6391656"/>
            <a:ext cx="4572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52606D"/>
                </a:solidFill>
                <a:latin typeface="Arial"/>
              </a:rPr>
              <a:t>14/14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InterSubMod 研究主線整合週報</dc:title>
  <dc:subject/>
  <dc:creator>廖子游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